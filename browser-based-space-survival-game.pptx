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Dikdörtgen 47">
            <a:extLst>
              <a:ext uri="{FF2B5EF4-FFF2-40B4-BE49-F238E27FC236}">
                <a16:creationId xmlns:a16="http://schemas.microsoft.com/office/drawing/2014/main" id="{21D35DCC-C3EC-45E3-B9DD-C9E8E7F038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31F3714-7D94-41C5-98EB-F773D72707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F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653072-793E-49D6-B44B-BE420E0FDCF2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A2FEAA-FFFB-4F57-A480-47352B3D22F2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1263D4-BFD9-4EA7-94A9-01F1A32579DE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9928F6-06AD-457E-BA89-A4BC127597A8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F58BEF-D9CA-45F7-8832-7F91F0BA0EB3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38CBD9-E840-485A-90CA-7E5E550671EA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EB601-73D8-413E-A71C-1F3A92EB4EC2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3DEFB7-0C5A-4FB1-82E1-BB3074E35157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7F74D-B164-4D38-8F81-67C090082AB3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08CC85-A800-4CD5-8785-6A589828B0A0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DAE59A-97E4-4989-A9BA-A609B885CD43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CBB242F-1375-4695-BED2-DCF28D2F6F75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E3473E5-6EC4-4AAD-B2A6-F587DE3467CB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7186B02-628C-4C21-A77D-DD846F44F546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1630AC-C257-40B4-BCE7-9CD0400FD3F9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7411CD-7496-4DE9-A25E-601C13BA3D02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344EFB-AFEA-4935-9641-FA84D5F3B2B0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9A0369-B4BD-46FC-8CFC-8082546D1F31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F19463-5E3C-4989-A7F5-9E60A57721A5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6B1C0A-C730-400B-B3E0-2F5465F2F895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3C1AAC-562C-486A-AFD9-D72A2EC2D663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2D21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5FE4B0-4554-4E01-9392-4F7F3CC657B6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211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A7247879-22BD-4E6A-9F14-FB7E794F9E0F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Resim 25"/>
          <p:cNvPicPr>
            <a:picLocks noChangeAspect="1"/>
          </p:cNvPicPr>
          <p:nvPr/>
        </p:nvPicPr>
        <p:blipFill>
          <a:blip r:embed="rId3"/>
          <a:srcRect l="25233" r="2523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7" name="Dikdörtgen 26">
            <a:extLst>
              <a:ext uri="{FF2B5EF4-FFF2-40B4-BE49-F238E27FC236}">
                <a16:creationId xmlns:a16="http://schemas.microsoft.com/office/drawing/2014/main" id="{D78B853C-16B5-4CFF-B812-217B02ADD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90FA8F09-15A9-40C1-85C5-B29998A12557}"/>
              </a:ext>
            </a:extLst>
          </p:cNvPr>
          <p:cNvSpPr>
            <a:spLocks noGrp="1"/>
          </p:cNvSpPr>
          <p:nvPr/>
        </p:nvSpPr>
        <p:spPr>
          <a:xfrm>
            <a:off x="4476750" y="0"/>
            <a:ext cx="2095500" cy="6858000"/>
          </a:xfrm>
          <a:prstGeom prst="rect">
            <a:avLst/>
          </a:prstGeom>
          <a:solidFill>
            <a:srgbClr val="07100F">
              <a:alpha val="6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61DF2D00-2E5A-4163-A437-4AC75719EE51}"/>
              </a:ext>
            </a:extLst>
          </p:cNvPr>
          <p:cNvSpPr>
            <a:spLocks noGrp="1"/>
          </p:cNvSpPr>
          <p:nvPr/>
        </p:nvSpPr>
        <p:spPr>
          <a:xfrm>
            <a:off x="4762500" y="0"/>
            <a:ext cx="4343400" cy="10668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E7C039AD-FDE5-453E-B913-8809BFC6C1A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0B84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0B84A"/>
                </a:solidFill>
                <a:latin typeface="Aptos Mono"/>
                <a:ea typeface="Aptos Mono"/>
                <a:cs typeface="Aptos Mono"/>
              </a:rPr>
              <a:t>GAME PRESENTATION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D8B337C4-5626-4469-97C4-F5685FF08DE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334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Browser-Based Space Survival Game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E7B5C735-A228-4247-8773-C044E84DFC7F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4667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A 2D space prototype that boots at arcade speed, auto-fires, and generates a unique build in every run with XP and upgrade choices.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AC9D98BA-4C3F-45FA-82B0-A8220D5FFD80}"/>
              </a:ext>
            </a:extLst>
          </p:cNvPr>
          <p:cNvSpPr>
            <a:spLocks noGrp="1"/>
          </p:cNvSpPr>
          <p:nvPr/>
        </p:nvSpPr>
        <p:spPr>
          <a:xfrm>
            <a:off x="685800" y="4484586"/>
            <a:ext cx="140970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B4352357-B938-465F-9BDB-8BDA192EA393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dirty="0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Free-Roam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A76BC20C-7DEF-4D61-8875-AB8EA706D5AC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 dirty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2D Movement &amp; Camera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003AEA54-6AFF-46CA-A2F3-36944DD0EEE9}"/>
              </a:ext>
            </a:extLst>
          </p:cNvPr>
          <p:cNvSpPr>
            <a:spLocks noGrp="1"/>
          </p:cNvSpPr>
          <p:nvPr/>
        </p:nvSpPr>
        <p:spPr>
          <a:xfrm>
            <a:off x="2266950" y="4476750"/>
            <a:ext cx="160020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6A205517-E92D-4381-8D0E-AF31F2FC6CDE}"/>
              </a:ext>
            </a:extLst>
          </p:cNvPr>
          <p:cNvSpPr>
            <a:spLocks noGrp="1"/>
          </p:cNvSpPr>
          <p:nvPr/>
        </p:nvSpPr>
        <p:spPr>
          <a:xfrm>
            <a:off x="2438400" y="4610100"/>
            <a:ext cx="1257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rPr>
              <a:t>3 Choices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6BB55A59-63A4-4B6F-97C3-D471979A8AE4}"/>
              </a:ext>
            </a:extLst>
          </p:cNvPr>
          <p:cNvSpPr>
            <a:spLocks noGrp="1"/>
          </p:cNvSpPr>
          <p:nvPr/>
        </p:nvSpPr>
        <p:spPr>
          <a:xfrm>
            <a:off x="2438400" y="49530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Level-Up Upgrade Structure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B4ED8DB4-42AF-48B7-B0F4-64488B372C75}"/>
              </a:ext>
            </a:extLst>
          </p:cNvPr>
          <p:cNvSpPr>
            <a:spLocks noGrp="1"/>
          </p:cNvSpPr>
          <p:nvPr/>
        </p:nvSpPr>
        <p:spPr>
          <a:xfrm>
            <a:off x="4038600" y="4476750"/>
            <a:ext cx="14287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61536B02-ED2B-407C-B449-3D11871EFD86}"/>
              </a:ext>
            </a:extLst>
          </p:cNvPr>
          <p:cNvSpPr>
            <a:spLocks noGrp="1"/>
          </p:cNvSpPr>
          <p:nvPr/>
        </p:nvSpPr>
        <p:spPr>
          <a:xfrm>
            <a:off x="4210050" y="46101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rPr>
              <a:t>Boss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42084275-A063-48CD-A439-B6293A69257F}"/>
              </a:ext>
            </a:extLst>
          </p:cNvPr>
          <p:cNvSpPr>
            <a:spLocks noGrp="1"/>
          </p:cNvSpPr>
          <p:nvPr/>
        </p:nvSpPr>
        <p:spPr>
          <a:xfrm>
            <a:off x="4210050" y="495300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Relic Reward Layer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99AB81B1-3147-451A-8A99-F3AAF284981B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478155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8A3CF5AE-6D6F-4CDA-AE83-CC39194897DF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38100" cy="8572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4AC3BF76-EBB1-426F-95E6-E0109FD78CAA}"/>
              </a:ext>
            </a:extLst>
          </p:cNvPr>
          <p:cNvSpPr>
            <a:spLocks noGrp="1"/>
          </p:cNvSpPr>
          <p:nvPr/>
        </p:nvSpPr>
        <p:spPr>
          <a:xfrm>
            <a:off x="857250" y="5600700"/>
            <a:ext cx="4457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Presentation Goal</a:t>
            </a:r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0CD3C1A1-85F9-4BD2-B498-74FC2BDC96DA}"/>
              </a:ext>
            </a:extLst>
          </p:cNvPr>
          <p:cNvSpPr>
            <a:spLocks noGrp="1"/>
          </p:cNvSpPr>
          <p:nvPr/>
        </p:nvSpPr>
        <p:spPr>
          <a:xfrm>
            <a:off x="857250" y="5848350"/>
            <a:ext cx="4457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To clearly demonstrate the gameplay vision, systems, and next development steps of the prototype.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BF24661A-B7FB-40C5-85D6-6F38C107BDEB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local game prototype screenshot</a:t>
            </a:r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A9A6281D-DDA8-4CD5-9977-DBCEC5281698}"/>
              </a:ext>
            </a:extLst>
          </p:cNvPr>
          <p:cNvSpPr>
            <a:spLocks noGrp="1"/>
          </p:cNvSpPr>
          <p:nvPr/>
        </p:nvSpPr>
        <p:spPr>
          <a:xfrm>
            <a:off x="59436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145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Dikdörtgen 69">
            <a:extLst>
              <a:ext uri="{FF2B5EF4-FFF2-40B4-BE49-F238E27FC236}">
                <a16:creationId xmlns:a16="http://schemas.microsoft.com/office/drawing/2014/main" id="{3CB65737-AF47-4739-84C0-82E66CEAAA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DEA178C-7172-4B51-8593-1A7845215A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0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00493B-7F90-43E9-9D60-026480498697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FADA23-B956-4177-9BE5-0CEF4AC3DC16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244A854-B4F3-4FB8-9C57-161E256E3316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4D3F8F-7D55-4605-A322-FA95EE2A1BF6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9FEC91-5F02-4939-8513-2B69F5635B37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3691C2-3701-4FD5-A8F5-4ED801450BF0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1BB6D2-F9B5-4483-85FB-E61DA7B39CDC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02DF60-3FC4-4C59-8638-35BE4CA75D83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5DC56E-3623-4A8F-8130-4B91AFCA896A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C10E9F-CCD3-4CBE-94F6-6CCD48FD3496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03984C-EABA-4787-AAE5-207CB6F842EF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B1AE67-3366-4C6B-A7D5-3FEFBCE8C48C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80705B5-EE5B-4ECD-A6AA-821A3EDD695B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FEEA97-79F3-4C92-87D2-EE62805757AE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6101FA-B0C7-4567-B5E5-3B92C99E20BF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7FC496-D9D8-4285-B8DC-8514D4DD0BBA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B069B7-1923-4B26-864E-7FFB40356D30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A06CF20-522D-4C44-B336-40BB0C9A99B7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66D5FA3-B4F9-40E9-99EF-54E156809928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642CB46-72A7-4092-A6CF-09AA79446986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3C3D0DB-F552-4B57-97AE-8ACAD9393CAA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143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5BE27CF-D5F1-475C-AC67-F089C0610410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08A4FEB1-13C7-42E9-8D1E-FDE6B1013C3D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2-marker">
            <a:extLst>
              <a:ext uri="{FF2B5EF4-FFF2-40B4-BE49-F238E27FC236}">
                <a16:creationId xmlns:a16="http://schemas.microsoft.com/office/drawing/2014/main" id="{23253579-68CD-4F7E-83CA-B8A8ECED971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2-label">
            <a:extLst>
              <a:ext uri="{FF2B5EF4-FFF2-40B4-BE49-F238E27FC236}">
                <a16:creationId xmlns:a16="http://schemas.microsoft.com/office/drawing/2014/main" id="{4210F258-CE9E-47B6-A8CA-F2422D141040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CORE GAMEPLAY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CA0E18E3-2BB8-4B1B-B1CF-1DA79DE55F4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basic loop starts simple and deepens with choices.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DE3CDFC-044F-438A-A9DA-B1C74FC30ECE}"/>
              </a:ext>
            </a:extLst>
          </p:cNvPr>
          <p:cNvSpPr>
            <a:spLocks noGrp="1"/>
          </p:cNvSpPr>
          <p:nvPr/>
        </p:nvSpPr>
        <p:spPr>
          <a:xfrm>
            <a:off x="4762500" y="2647950"/>
            <a:ext cx="2000250" cy="2000250"/>
          </a:xfrm>
          <a:prstGeom prst="ellipse">
            <a:avLst/>
          </a:prstGeom>
          <a:solidFill>
            <a:srgbClr val="0F2421"/>
          </a:solidFill>
          <a:ln w="1905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48EAFCFF-10B3-47D0-85B5-CD3F17BF8209}"/>
              </a:ext>
            </a:extLst>
          </p:cNvPr>
          <p:cNvSpPr>
            <a:spLocks noGrp="1"/>
          </p:cNvSpPr>
          <p:nvPr/>
        </p:nvSpPr>
        <p:spPr>
          <a:xfrm>
            <a:off x="5219700" y="3200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CORE LOOP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9D6D07F-C802-462B-AA9B-A811059C846A}"/>
              </a:ext>
            </a:extLst>
          </p:cNvPr>
          <p:cNvSpPr>
            <a:spLocks noGrp="1"/>
          </p:cNvSpPr>
          <p:nvPr/>
        </p:nvSpPr>
        <p:spPr>
          <a:xfrm>
            <a:off x="5067300" y="3486150"/>
            <a:ext cx="1428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Survive,</a:t>
            </a:r>
          </a:p>
          <a:p>
            <a:pPr algn="ctr">
              <a:def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build a setup,</a:t>
            </a:r>
          </a:p>
          <a:p>
            <a:pPr algn="ctr">
              <a:def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defeat the boss.</a:t>
            </a:r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1F9BB0E7-7327-420F-9F4F-CECB9F914637}"/>
              </a:ext>
            </a:extLst>
          </p:cNvPr>
          <p:cNvSpPr>
            <a:spLocks noGrp="1"/>
          </p:cNvSpPr>
          <p:nvPr/>
        </p:nvSpPr>
        <p:spPr>
          <a:xfrm>
            <a:off x="3200400" y="2619375"/>
            <a:ext cx="361950" cy="190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74A82FD-533B-458F-B548-569D0FE5C0C5}"/>
              </a:ext>
            </a:extLst>
          </p:cNvPr>
          <p:cNvSpPr>
            <a:spLocks noGrp="1"/>
          </p:cNvSpPr>
          <p:nvPr/>
        </p:nvSpPr>
        <p:spPr>
          <a:xfrm>
            <a:off x="5600700" y="2162175"/>
            <a:ext cx="1409700" cy="190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439F5C77-5E5A-4901-B429-04EA7D5509B8}"/>
              </a:ext>
            </a:extLst>
          </p:cNvPr>
          <p:cNvSpPr>
            <a:spLocks noGrp="1"/>
          </p:cNvSpPr>
          <p:nvPr/>
        </p:nvSpPr>
        <p:spPr>
          <a:xfrm>
            <a:off x="8572500" y="2352675"/>
            <a:ext cx="457200" cy="190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C6DAC51-DAB2-499F-8EC7-1B9C3FEF0726}"/>
              </a:ext>
            </a:extLst>
          </p:cNvPr>
          <p:cNvSpPr>
            <a:spLocks noGrp="1"/>
          </p:cNvSpPr>
          <p:nvPr/>
        </p:nvSpPr>
        <p:spPr>
          <a:xfrm>
            <a:off x="9096375" y="3733800"/>
            <a:ext cx="19050" cy="108585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55D81BD1-BBD4-465F-9FAE-0C057EC3C1A9}"/>
              </a:ext>
            </a:extLst>
          </p:cNvPr>
          <p:cNvSpPr>
            <a:spLocks noGrp="1"/>
          </p:cNvSpPr>
          <p:nvPr/>
        </p:nvSpPr>
        <p:spPr>
          <a:xfrm>
            <a:off x="5562600" y="5172075"/>
            <a:ext cx="1447800" cy="190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0EBDA7C8-CB88-4B23-8510-E2BB906BBB6F}"/>
              </a:ext>
            </a:extLst>
          </p:cNvPr>
          <p:cNvSpPr>
            <a:spLocks noGrp="1"/>
          </p:cNvSpPr>
          <p:nvPr/>
        </p:nvSpPr>
        <p:spPr>
          <a:xfrm>
            <a:off x="3552825" y="3733800"/>
            <a:ext cx="19050" cy="14478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A12F966D-4D34-488A-B73B-F53CA6A14637}"/>
              </a:ext>
            </a:extLst>
          </p:cNvPr>
          <p:cNvSpPr>
            <a:spLocks noGrp="1"/>
          </p:cNvSpPr>
          <p:nvPr/>
        </p:nvSpPr>
        <p:spPr>
          <a:xfrm>
            <a:off x="1543050" y="21526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2EA58EB5-6678-452E-99D9-0ED8B60563F0}"/>
              </a:ext>
            </a:extLst>
          </p:cNvPr>
          <p:cNvSpPr>
            <a:spLocks noGrp="1"/>
          </p:cNvSpPr>
          <p:nvPr/>
        </p:nvSpPr>
        <p:spPr>
          <a:xfrm>
            <a:off x="1543050" y="2152650"/>
            <a:ext cx="47625" cy="9144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CE6E12EF-AFA5-49DB-A4BC-B1C4C6519C83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Free Movement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E6657B0-30B0-4A79-A03F-46C592CF5CEF}"/>
              </a:ext>
            </a:extLst>
          </p:cNvPr>
          <p:cNvSpPr>
            <a:spLocks noGrp="1"/>
          </p:cNvSpPr>
          <p:nvPr/>
        </p:nvSpPr>
        <p:spPr>
          <a:xfrm>
            <a:off x="1714500" y="25527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The ship is followed by the camera in a wide sector.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0A988406-D18F-4D0F-9E60-71F4B7B7CD32}"/>
              </a:ext>
            </a:extLst>
          </p:cNvPr>
          <p:cNvSpPr>
            <a:spLocks noGrp="1"/>
          </p:cNvSpPr>
          <p:nvPr/>
        </p:nvSpPr>
        <p:spPr>
          <a:xfrm>
            <a:off x="3562350" y="16192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D95CEDC8-2B63-43B4-B4A2-1EB933EF0587}"/>
              </a:ext>
            </a:extLst>
          </p:cNvPr>
          <p:cNvSpPr>
            <a:spLocks noGrp="1"/>
          </p:cNvSpPr>
          <p:nvPr/>
        </p:nvSpPr>
        <p:spPr>
          <a:xfrm>
            <a:off x="3562350" y="1619250"/>
            <a:ext cx="47625" cy="9144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986B458A-DC0E-485C-8C2F-6DE32B66074E}"/>
              </a:ext>
            </a:extLst>
          </p:cNvPr>
          <p:cNvSpPr>
            <a:spLocks noGrp="1"/>
          </p:cNvSpPr>
          <p:nvPr/>
        </p:nvSpPr>
        <p:spPr>
          <a:xfrm>
            <a:off x="3733800" y="1752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Auto-Fire</a:t>
            </a:r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4F317CDB-C96D-4440-B668-DE42D442A174}"/>
              </a:ext>
            </a:extLst>
          </p:cNvPr>
          <p:cNvSpPr>
            <a:spLocks noGrp="1"/>
          </p:cNvSpPr>
          <p:nvPr/>
        </p:nvSpPr>
        <p:spPr>
          <a:xfrm>
            <a:off x="3733800" y="20193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The player focuses on positioning rather than aiming.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EAFE218C-952F-4994-A0BD-C11701E544B6}"/>
              </a:ext>
            </a:extLst>
          </p:cNvPr>
          <p:cNvSpPr>
            <a:spLocks noGrp="1"/>
          </p:cNvSpPr>
          <p:nvPr/>
        </p:nvSpPr>
        <p:spPr>
          <a:xfrm>
            <a:off x="7010400" y="16192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AA7ED0BA-2A11-41BD-BAEB-FD078ED8AEE2}"/>
              </a:ext>
            </a:extLst>
          </p:cNvPr>
          <p:cNvSpPr>
            <a:spLocks noGrp="1"/>
          </p:cNvSpPr>
          <p:nvPr/>
        </p:nvSpPr>
        <p:spPr>
          <a:xfrm>
            <a:off x="7010400" y="1619250"/>
            <a:ext cx="47625" cy="9144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BE41B3C0-2635-4A3A-96EA-7BA978BFBD4C}"/>
              </a:ext>
            </a:extLst>
          </p:cNvPr>
          <p:cNvSpPr>
            <a:spLocks noGrp="1"/>
          </p:cNvSpPr>
          <p:nvPr/>
        </p:nvSpPr>
        <p:spPr>
          <a:xfrm>
            <a:off x="7181850" y="1752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XP Collection</a:t>
            </a: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702DCA76-5A19-4426-896E-CD08A1E58AD5}"/>
              </a:ext>
            </a:extLst>
          </p:cNvPr>
          <p:cNvSpPr>
            <a:spLocks noGrp="1"/>
          </p:cNvSpPr>
          <p:nvPr/>
        </p:nvSpPr>
        <p:spPr>
          <a:xfrm>
            <a:off x="7181850" y="20193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Staying in risky zones yields faster progression.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114F45EC-F011-4999-9A5B-A7912FA31B2C}"/>
              </a:ext>
            </a:extLst>
          </p:cNvPr>
          <p:cNvSpPr>
            <a:spLocks noGrp="1"/>
          </p:cNvSpPr>
          <p:nvPr/>
        </p:nvSpPr>
        <p:spPr>
          <a:xfrm>
            <a:off x="9029700" y="21526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677B7B21-3651-4794-9815-33FD98998FD1}"/>
              </a:ext>
            </a:extLst>
          </p:cNvPr>
          <p:cNvSpPr>
            <a:spLocks noGrp="1"/>
          </p:cNvSpPr>
          <p:nvPr/>
        </p:nvSpPr>
        <p:spPr>
          <a:xfrm>
            <a:off x="9029700" y="2152650"/>
            <a:ext cx="47625" cy="9144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A6D043A2-4595-4790-8D45-2801DE169C97}"/>
              </a:ext>
            </a:extLst>
          </p:cNvPr>
          <p:cNvSpPr>
            <a:spLocks noGrp="1"/>
          </p:cNvSpPr>
          <p:nvPr/>
        </p:nvSpPr>
        <p:spPr>
          <a:xfrm>
            <a:off x="9201150" y="22860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3 Upgrades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AF6F05BF-2016-4EB4-9A40-575BBB804B2E}"/>
              </a:ext>
            </a:extLst>
          </p:cNvPr>
          <p:cNvSpPr>
            <a:spLocks noGrp="1"/>
          </p:cNvSpPr>
          <p:nvPr/>
        </p:nvSpPr>
        <p:spPr>
          <a:xfrm>
            <a:off x="9201150" y="25527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The level-up moment creates a short and meaningful choice.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85E76B6A-A492-4741-BC1E-AC066CEF289E}"/>
              </a:ext>
            </a:extLst>
          </p:cNvPr>
          <p:cNvSpPr>
            <a:spLocks noGrp="1"/>
          </p:cNvSpPr>
          <p:nvPr/>
        </p:nvSpPr>
        <p:spPr>
          <a:xfrm>
            <a:off x="7010400" y="46672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71822AEF-0D6A-4EB9-9B92-DE87C7D8A8B7}"/>
              </a:ext>
            </a:extLst>
          </p:cNvPr>
          <p:cNvSpPr>
            <a:spLocks noGrp="1"/>
          </p:cNvSpPr>
          <p:nvPr/>
        </p:nvSpPr>
        <p:spPr>
          <a:xfrm>
            <a:off x="7010400" y="4667250"/>
            <a:ext cx="47625" cy="91440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BE9A9B89-AD72-4319-BCB8-76BA107505CC}"/>
              </a:ext>
            </a:extLst>
          </p:cNvPr>
          <p:cNvSpPr>
            <a:spLocks noGrp="1"/>
          </p:cNvSpPr>
          <p:nvPr/>
        </p:nvSpPr>
        <p:spPr>
          <a:xfrm>
            <a:off x="7181850" y="4800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Build Synergy</a:t>
            </a:r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490DB5EA-A2CF-42B0-BF66-1B1EA9466390}"/>
              </a:ext>
            </a:extLst>
          </p:cNvPr>
          <p:cNvSpPr>
            <a:spLocks noGrp="1"/>
          </p:cNvSpPr>
          <p:nvPr/>
        </p:nvSpPr>
        <p:spPr>
          <a:xfrm>
            <a:off x="7181850" y="50673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Combinations modify the weapon and the visual equipment.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55DED4A3-6FEA-44BF-BA14-EC4B318A35BD}"/>
              </a:ext>
            </a:extLst>
          </p:cNvPr>
          <p:cNvSpPr>
            <a:spLocks noGrp="1"/>
          </p:cNvSpPr>
          <p:nvPr/>
        </p:nvSpPr>
        <p:spPr>
          <a:xfrm>
            <a:off x="3562350" y="4667250"/>
            <a:ext cx="1809750" cy="914400"/>
          </a:xfrm>
          <a:prstGeom prst="rect">
            <a:avLst/>
          </a:prstGeom>
          <a:solidFill>
            <a:srgbClr val="101D1B"/>
          </a:solidFill>
          <a:ln w="11430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C465F030-832F-406F-99E4-C4B77A9991F2}"/>
              </a:ext>
            </a:extLst>
          </p:cNvPr>
          <p:cNvSpPr>
            <a:spLocks noGrp="1"/>
          </p:cNvSpPr>
          <p:nvPr/>
        </p:nvSpPr>
        <p:spPr>
          <a:xfrm>
            <a:off x="3562350" y="4667250"/>
            <a:ext cx="47625" cy="91440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AA48DD49-9794-44F9-8C10-FAABD66B7DA9}"/>
              </a:ext>
            </a:extLst>
          </p:cNvPr>
          <p:cNvSpPr>
            <a:spLocks noGrp="1"/>
          </p:cNvSpPr>
          <p:nvPr/>
        </p:nvSpPr>
        <p:spPr>
          <a:xfrm>
            <a:off x="3733800" y="4800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Boss + Relic</a:t>
            </a:r>
          </a:p>
        </p:txBody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D06C3F68-4719-4ED3-B9FB-7B4B2BDFAE7B}"/>
              </a:ext>
            </a:extLst>
          </p:cNvPr>
          <p:cNvSpPr>
            <a:spLocks noGrp="1"/>
          </p:cNvSpPr>
          <p:nvPr/>
        </p:nvSpPr>
        <p:spPr>
          <a:xfrm>
            <a:off x="3733800" y="5067300"/>
            <a:ext cx="1504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Challenging thresholds unlock special rewards and new paths.</a:t>
            </a:r>
          </a:p>
        </p:txBody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1ABCD75C-E92E-4DB7-8870-BD05F3C124E2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14287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3F68EBEB-A586-4230-9D6B-11EAECB30D6B}"/>
              </a:ext>
            </a:extLst>
          </p:cNvPr>
          <p:cNvSpPr>
            <a:spLocks noGrp="1"/>
          </p:cNvSpPr>
          <p:nvPr/>
        </p:nvSpPr>
        <p:spPr>
          <a:xfrm>
            <a:off x="857250" y="529590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Instant</a:t>
            </a:r>
          </a:p>
        </p:txBody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F1217EF4-6790-4482-A649-65F322FB6273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start in browser</a:t>
            </a:r>
          </a:p>
        </p:txBody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A31CA1FC-B020-4466-88F5-EDDF00206DC4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4287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7C8E8B13-A8AB-42C3-AD56-B5CCB2F763C1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67" name="Dikdörtgen 66">
            <a:extLst>
              <a:ext uri="{FF2B5EF4-FFF2-40B4-BE49-F238E27FC236}">
                <a16:creationId xmlns:a16="http://schemas.microsoft.com/office/drawing/2014/main" id="{92337ABF-0A62-402F-9FFF-F9503533202B}"/>
              </a:ext>
            </a:extLst>
          </p:cNvPr>
          <p:cNvSpPr>
            <a:spLocks noGrp="1"/>
          </p:cNvSpPr>
          <p:nvPr/>
        </p:nvSpPr>
        <p:spPr>
          <a:xfrm>
            <a:off x="857250" y="470535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different path every time</a:t>
            </a:r>
          </a:p>
        </p:txBody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44E6B6E3-7741-4DD2-8241-AAFAB4A069A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local game prototype and tasks/todo.md verification notes</a:t>
            </a:r>
          </a:p>
        </p:txBody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F26F91ED-F5C2-4D6A-8C02-1F5863FFB6FD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048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ikdörtgen 53">
            <a:extLst>
              <a:ext uri="{FF2B5EF4-FFF2-40B4-BE49-F238E27FC236}">
                <a16:creationId xmlns:a16="http://schemas.microsoft.com/office/drawing/2014/main" id="{F4D5590F-EB26-46C5-9536-FF05FE1905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1EE730B-A7D9-4325-9794-6CB2A90768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F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7C6FAE-91E8-4597-8BFE-4B80C6748A5C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B50023-51A7-4C91-9791-C2566CDED03C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660041-69E9-4FF5-994A-DA9B321DD0E8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CAB725-9814-4E46-B9E0-DD95E5D16C34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8E0C9E-2E8C-4F36-ACFD-013DF087C987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05133E-78BD-4D44-8FC3-7D8C2C16285C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A52C444-6E5B-4CBE-8F18-21F8649ACA7C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7FE6CE-BCD9-4A50-82A5-4EC4CCA4FE7A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552904-CD96-42BA-8493-5751FAF523AA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F2A222-095B-4842-AE95-D81433C2AD34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271BB59-1603-4E40-A76F-78BFA92D9735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FDFEF3-09B6-479E-BF21-9CC903E1EA3C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6392799-4461-4698-A2C7-E631C16074A6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507ACE-7663-49D5-B308-AA9CE160F326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0851F3D-B383-47B5-B45F-7A770C1E5F02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DEADD5-A12E-4DC0-86C7-55C4B4CF297F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E0118D-C6A6-4667-9DFC-B0A0B82C9DB4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3610C48-BCA7-4079-827D-1BBB993DD15D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B320C84-17F8-47AD-85B1-D324F677DA11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0037AC-5DC4-4585-A9E3-EE545751A751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4A39CE-674A-4E72-A679-81051C2FA62B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2D21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27216D-7896-4CEE-8BAC-3895959A3990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211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CF369516-44CD-46F2-A134-BAA0A2843577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3-marker">
            <a:extLst>
              <a:ext uri="{FF2B5EF4-FFF2-40B4-BE49-F238E27FC236}">
                <a16:creationId xmlns:a16="http://schemas.microsoft.com/office/drawing/2014/main" id="{F1727C6F-452B-4913-AFA3-8E19B019405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3-label">
            <a:extLst>
              <a:ext uri="{FF2B5EF4-FFF2-40B4-BE49-F238E27FC236}">
                <a16:creationId xmlns:a16="http://schemas.microsoft.com/office/drawing/2014/main" id="{5072686B-3B0F-4FB5-BAAA-DF72946A909E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PLAYER FEEL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A384021-ADEA-41EF-AB4E-063B6123A61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player ship now carries its progression visually.</a:t>
            </a:r>
          </a:p>
        </p:txBody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rcRect t="5773" b="5773"/>
          <a:stretch>
            <a:fillRect/>
          </a:stretch>
        </p:blipFill>
        <p:spPr>
          <a:xfrm>
            <a:off x="685800" y="2019300"/>
            <a:ext cx="5715000" cy="3219450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66D47E32-A30D-421E-A89E-DE71346B133B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5715000" cy="321945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63EBAC9-3EF0-42BD-BDFB-E44931BBC67A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2400300" cy="32385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F9EDB223-304A-4220-9FD9-EF180C5438E8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5715000" cy="3219450"/>
          </a:xfrm>
          <a:prstGeom prst="rect">
            <a:avLst/>
          </a:prstGeom>
          <a:solidFill>
            <a:srgbClr val="000000">
              <a:alpha val="13333"/>
            </a:srgbClr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02F6B6A4-A307-4394-87B8-A3EC41ABA54C}"/>
              </a:ext>
            </a:extLst>
          </p:cNvPr>
          <p:cNvSpPr>
            <a:spLocks noGrp="1"/>
          </p:cNvSpPr>
          <p:nvPr/>
        </p:nvSpPr>
        <p:spPr>
          <a:xfrm>
            <a:off x="6858000" y="1943100"/>
            <a:ext cx="38100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7881E4A3-69D9-4A73-8D7F-C30718627519}"/>
              </a:ext>
            </a:extLst>
          </p:cNvPr>
          <p:cNvSpPr>
            <a:spLocks noGrp="1"/>
          </p:cNvSpPr>
          <p:nvPr/>
        </p:nvSpPr>
        <p:spPr>
          <a:xfrm>
            <a:off x="6858000" y="1943100"/>
            <a:ext cx="38100" cy="8572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D86DFB77-7061-49FF-9547-CC8E8A6CC0A3}"/>
              </a:ext>
            </a:extLst>
          </p:cNvPr>
          <p:cNvSpPr>
            <a:spLocks noGrp="1"/>
          </p:cNvSpPr>
          <p:nvPr/>
        </p:nvSpPr>
        <p:spPr>
          <a:xfrm>
            <a:off x="7029450" y="2076450"/>
            <a:ext cx="3486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Heavy Fighter Ship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F552D219-AA09-4F42-9658-F9EF0CCF9C42}"/>
              </a:ext>
            </a:extLst>
          </p:cNvPr>
          <p:cNvSpPr>
            <a:spLocks noGrp="1"/>
          </p:cNvSpPr>
          <p:nvPr/>
        </p:nvSpPr>
        <p:spPr>
          <a:xfrm>
            <a:off x="7029450" y="2324100"/>
            <a:ext cx="3486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An angular hull and energy core with a unique design, approaching a Dark Orbit feel.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FD6B19D2-00F2-44DC-89B1-24FDC83641B7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40005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F0721AAE-7E4C-4111-AC2C-1EFCB359DE80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38100" cy="8572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B7AACE61-0002-40CB-AE59-39BBACC9F395}"/>
              </a:ext>
            </a:extLst>
          </p:cNvPr>
          <p:cNvSpPr>
            <a:spLocks noGrp="1"/>
          </p:cNvSpPr>
          <p:nvPr/>
        </p:nvSpPr>
        <p:spPr>
          <a:xfrm>
            <a:off x="7410450" y="3162300"/>
            <a:ext cx="3676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Weapon Modules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0C4B5A6B-BB21-4CA3-A184-663A4F34FF2F}"/>
              </a:ext>
            </a:extLst>
          </p:cNvPr>
          <p:cNvSpPr>
            <a:spLocks noGrp="1"/>
          </p:cNvSpPr>
          <p:nvPr/>
        </p:nvSpPr>
        <p:spPr>
          <a:xfrm>
            <a:off x="7410450" y="340995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Damage, split, rapid, engine, and relic choices appear as visual equipment on the ship.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F22930E2-6016-49F3-8EF6-1619059BEBA1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38100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20750CF8-1BCC-462A-BF1A-8DE125176F39}"/>
              </a:ext>
            </a:extLst>
          </p:cNvPr>
          <p:cNvSpPr>
            <a:spLocks noGrp="1"/>
          </p:cNvSpPr>
          <p:nvPr/>
        </p:nvSpPr>
        <p:spPr>
          <a:xfrm>
            <a:off x="6858000" y="4114800"/>
            <a:ext cx="38100" cy="8572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554D7F88-CF29-499D-82BA-7DAD921CD697}"/>
              </a:ext>
            </a:extLst>
          </p:cNvPr>
          <p:cNvSpPr>
            <a:spLocks noGrp="1"/>
          </p:cNvSpPr>
          <p:nvPr/>
        </p:nvSpPr>
        <p:spPr>
          <a:xfrm>
            <a:off x="7029450" y="4248150"/>
            <a:ext cx="3486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Overdrive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5C304074-0056-47A6-9300-D3236C980467}"/>
              </a:ext>
            </a:extLst>
          </p:cNvPr>
          <p:cNvSpPr>
            <a:spLocks noGrp="1"/>
          </p:cNvSpPr>
          <p:nvPr/>
        </p:nvSpPr>
        <p:spPr>
          <a:xfrm>
            <a:off x="7029450" y="4495800"/>
            <a:ext cx="3486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When ready, pressing E deploys Nova, Phase, Void, or Surge effects onto the battlefield.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C146806-AEE1-4184-9932-E6492CED2FE9}"/>
              </a:ext>
            </a:extLst>
          </p:cNvPr>
          <p:cNvSpPr>
            <a:spLocks noGrp="1"/>
          </p:cNvSpPr>
          <p:nvPr/>
        </p:nvSpPr>
        <p:spPr>
          <a:xfrm>
            <a:off x="6305550" y="2628900"/>
            <a:ext cx="133350" cy="133350"/>
          </a:xfrm>
          <a:prstGeom prst="ellipse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FF137718-7C3D-4111-A034-30E2D01D85E5}"/>
              </a:ext>
            </a:extLst>
          </p:cNvPr>
          <p:cNvSpPr>
            <a:spLocks noGrp="1"/>
          </p:cNvSpPr>
          <p:nvPr/>
        </p:nvSpPr>
        <p:spPr>
          <a:xfrm>
            <a:off x="6438900" y="2695575"/>
            <a:ext cx="419100" cy="190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36F811C-640D-4D3F-A5C2-4BA6DD987861}"/>
              </a:ext>
            </a:extLst>
          </p:cNvPr>
          <p:cNvSpPr>
            <a:spLocks noGrp="1"/>
          </p:cNvSpPr>
          <p:nvPr/>
        </p:nvSpPr>
        <p:spPr>
          <a:xfrm>
            <a:off x="5905500" y="3486150"/>
            <a:ext cx="133350" cy="133350"/>
          </a:xfrm>
          <a:prstGeom prst="ellipse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79796BCE-D325-4CD4-BB06-FAC16756465D}"/>
              </a:ext>
            </a:extLst>
          </p:cNvPr>
          <p:cNvSpPr>
            <a:spLocks noGrp="1"/>
          </p:cNvSpPr>
          <p:nvPr/>
        </p:nvSpPr>
        <p:spPr>
          <a:xfrm>
            <a:off x="6038850" y="3552825"/>
            <a:ext cx="1200150" cy="190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D93743D-1B57-4615-B9B6-E94BDA74AD72}"/>
              </a:ext>
            </a:extLst>
          </p:cNvPr>
          <p:cNvSpPr>
            <a:spLocks noGrp="1"/>
          </p:cNvSpPr>
          <p:nvPr/>
        </p:nvSpPr>
        <p:spPr>
          <a:xfrm>
            <a:off x="6191250" y="4438650"/>
            <a:ext cx="133350" cy="133350"/>
          </a:xfrm>
          <a:prstGeom prst="ellipse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80837382-1F53-46CF-8870-9B077441C7FC}"/>
              </a:ext>
            </a:extLst>
          </p:cNvPr>
          <p:cNvSpPr>
            <a:spLocks noGrp="1"/>
          </p:cNvSpPr>
          <p:nvPr/>
        </p:nvSpPr>
        <p:spPr>
          <a:xfrm>
            <a:off x="6324600" y="4505325"/>
            <a:ext cx="533400" cy="190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6C7400EA-8BC2-4D4D-879B-1F0142F1ED3F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7810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Visual progression lets the player read the impact of their choices on screen; the ship feels powerful even without looking at the stat panel.</a:t>
            </a:r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E2DBD646-9534-4773-A4CA-DC79CDCA74F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ship-visual, weapon-evolution, overdrive-system, and local screenshot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CBC08015-DC42-4BA8-9A3A-C37A241EF6DF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500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ikdörtgen 66">
            <a:extLst>
              <a:ext uri="{FF2B5EF4-FFF2-40B4-BE49-F238E27FC236}">
                <a16:creationId xmlns:a16="http://schemas.microsoft.com/office/drawing/2014/main" id="{AD46499E-28EC-49B8-9FFC-4873C25D4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4F4F96E9-44F2-4CBA-86AA-4707690D46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0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BB9167-F78C-4F6B-A597-0DF11D967DC7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678F22-74BF-4026-9622-159A985B3609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912106-1636-4EF4-994A-20F179A31E46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5C800C-2513-4BC9-81D9-A9EA2C40551B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CB1B30-F352-47B5-B88C-7BC96F36A1EF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84B7150-00AD-40E0-927E-3658780136BC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81F0A4-74A6-4D2A-86C2-695EB0C8B3D8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A74A8A-EEFA-4CCA-B357-0CB3EC34BD55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74743F-7C49-4BDB-A491-85E15CC09367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A40941-2D36-4745-93CC-C7E3C2971C66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62C09C-C488-4016-9579-826DA5FF9463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795733-C7D3-4746-AF7B-0F2494C85CEF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680226-6362-4E12-A0C8-F45D8891EB14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A604B11-BA1B-4D68-97E8-8274E4DD0807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EB5F05-16CB-4595-A3FB-CA1FE114DF1C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4255CF-46E4-4820-B279-55571C6868ED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ED6672-E248-4ECA-A2E3-DDE48D9E3984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316B34-04AA-4C3C-853A-811D74D9AD22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42245D-C30D-40E6-B4F6-F5E54623CBBF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C22EB6-8298-4F41-A790-AC071C1EF29A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D79746-6D24-4F60-A61D-02C725F1F3FF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143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343F06-7F40-48F7-A5E5-62DE1C199374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F8B9C9B1-5B91-48D8-8D62-BB2F67D0691E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4-marker">
            <a:extLst>
              <a:ext uri="{FF2B5EF4-FFF2-40B4-BE49-F238E27FC236}">
                <a16:creationId xmlns:a16="http://schemas.microsoft.com/office/drawing/2014/main" id="{0D9A1023-6A1E-4294-89DB-BD51461C169B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4-label">
            <a:extLst>
              <a:ext uri="{FF2B5EF4-FFF2-40B4-BE49-F238E27FC236}">
                <a16:creationId xmlns:a16="http://schemas.microsoft.com/office/drawing/2014/main" id="{0E7613D0-CDA2-43A7-A194-72D93A5C08FA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ENEMY ECOSYSTEM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359294E6-1B8E-4447-9827-0B3C2B48AB1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Enemies are not just a crowd, but roles that make different tactical decisions.</a:t>
            </a:r>
          </a:p>
        </p:txBody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rcRect t="6916" b="6916"/>
          <a:stretch>
            <a:fillRect/>
          </a:stretch>
        </p:blipFill>
        <p:spPr>
          <a:xfrm>
            <a:off x="7810500" y="1885950"/>
            <a:ext cx="3124200" cy="1714500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658F81D6-E239-48F2-91E7-828A656FEC2E}"/>
              </a:ext>
            </a:extLst>
          </p:cNvPr>
          <p:cNvSpPr>
            <a:spLocks noGrp="1"/>
          </p:cNvSpPr>
          <p:nvPr/>
        </p:nvSpPr>
        <p:spPr>
          <a:xfrm>
            <a:off x="7810500" y="1885950"/>
            <a:ext cx="31242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8ED49BE6-B754-45C4-A694-9884629D7BAC}"/>
              </a:ext>
            </a:extLst>
          </p:cNvPr>
          <p:cNvSpPr>
            <a:spLocks noGrp="1"/>
          </p:cNvSpPr>
          <p:nvPr/>
        </p:nvSpPr>
        <p:spPr>
          <a:xfrm>
            <a:off x="7924800" y="1962150"/>
            <a:ext cx="1200150" cy="17145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AFD44B40-7744-4E50-8371-71F8AF60D43A}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3619500" cy="1562100"/>
          </a:xfrm>
          <a:prstGeom prst="rect">
            <a:avLst/>
          </a:prstGeom>
          <a:solidFill>
            <a:srgbClr val="101D1B"/>
          </a:solidFill>
          <a:ln w="9525">
            <a:solidFill>
              <a:srgbClr val="344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96D6813E-93BD-4DE7-B84C-E8C9B42376DD}"/>
              </a:ext>
            </a:extLst>
          </p:cNvPr>
          <p:cNvSpPr>
            <a:spLocks noGrp="1"/>
          </p:cNvSpPr>
          <p:nvPr/>
        </p:nvSpPr>
        <p:spPr>
          <a:xfrm>
            <a:off x="7772400" y="40005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Formation Pressure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925AABD4-0145-4C66-BD06-E36C9A712D1B}"/>
              </a:ext>
            </a:extLst>
          </p:cNvPr>
          <p:cNvSpPr>
            <a:spLocks noGrp="1"/>
          </p:cNvSpPr>
          <p:nvPr/>
        </p:nvSpPr>
        <p:spPr>
          <a:xfrm>
            <a:off x="7772400" y="4305300"/>
            <a:ext cx="29718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Scout swarms push the player, tanks hold areas, snipers demand distance, and bombers create explosion hazards. The Captain's aura speeds up nearby enemies.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7ECBDEA7-B196-44A8-AFDF-C16E40484E2B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18097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D1823F23-5C2B-4B2F-AD25-45708EB5E282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47625" cy="81915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2C67C0AC-847D-47F2-BAC2-39598C24654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Scout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D5802701-A3EF-4801-A89A-C012A76E9056}"/>
              </a:ext>
            </a:extLst>
          </p:cNvPr>
          <p:cNvSpPr>
            <a:spLocks noGrp="1"/>
          </p:cNvSpPr>
          <p:nvPr/>
        </p:nvSpPr>
        <p:spPr>
          <a:xfrm>
            <a:off x="1162050" y="26479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Fast pursuit; forces the player to move.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4E47DE0E-646B-422A-BA3C-F6151EB1A7A9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18097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89946427-1B8E-4219-9DF7-445E475DCEC6}"/>
              </a:ext>
            </a:extLst>
          </p:cNvPr>
          <p:cNvSpPr>
            <a:spLocks noGrp="1"/>
          </p:cNvSpPr>
          <p:nvPr/>
        </p:nvSpPr>
        <p:spPr>
          <a:xfrm>
            <a:off x="1200150" y="4038600"/>
            <a:ext cx="47625" cy="8191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F759F771-5876-4960-9D7E-78F33A67DCBB}"/>
              </a:ext>
            </a:extLst>
          </p:cNvPr>
          <p:cNvSpPr>
            <a:spLocks noGrp="1"/>
          </p:cNvSpPr>
          <p:nvPr/>
        </p:nvSpPr>
        <p:spPr>
          <a:xfrm>
            <a:off x="1371600" y="4171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Tank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0844E561-C2C4-4BC9-810E-CA4E2ADF53AC}"/>
              </a:ext>
            </a:extLst>
          </p:cNvPr>
          <p:cNvSpPr>
            <a:spLocks noGrp="1"/>
          </p:cNvSpPr>
          <p:nvPr/>
        </p:nvSpPr>
        <p:spPr>
          <a:xfrm>
            <a:off x="1371600" y="44386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Slow but durable; requires focused fire.</a:t>
            </a: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93FEC192-A92D-4091-AE59-703415B7E972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20383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20ED8195-F389-4056-9218-19C038F3D167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47625" cy="8191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58B05B6B-821E-44C9-825A-C87304D05018}"/>
              </a:ext>
            </a:extLst>
          </p:cNvPr>
          <p:cNvSpPr>
            <a:spLocks noGrp="1"/>
          </p:cNvSpPr>
          <p:nvPr/>
        </p:nvSpPr>
        <p:spPr>
          <a:xfrm>
            <a:off x="4495800" y="19240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Sniper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0859A53D-95A8-4B38-94B6-9179463F48FB}"/>
              </a:ext>
            </a:extLst>
          </p:cNvPr>
          <p:cNvSpPr>
            <a:spLocks noGrp="1"/>
          </p:cNvSpPr>
          <p:nvPr/>
        </p:nvSpPr>
        <p:spPr>
          <a:xfrm>
            <a:off x="4495800" y="219075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Keeps distance and exerts ranged pressure.</a:t>
            </a:r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E8AFE83B-BFF0-431F-A7C1-E995F3C3D54F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20383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52AAD776-2D93-4513-9B2B-BBBC38578201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47625" cy="81915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3F2A892A-E23E-4945-8D23-2F99A4F2A3C4}"/>
              </a:ext>
            </a:extLst>
          </p:cNvPr>
          <p:cNvSpPr>
            <a:spLocks noGrp="1"/>
          </p:cNvSpPr>
          <p:nvPr/>
        </p:nvSpPr>
        <p:spPr>
          <a:xfrm>
            <a:off x="4572000" y="4781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Bomber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BDDFBCCD-3F15-459F-97C3-A3CB66E7BC9B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Leaves an area explosion upon death.</a:t>
            </a:r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7143EB6C-6FDB-4CFA-B3AB-902A0BCF71C5}"/>
              </a:ext>
            </a:extLst>
          </p:cNvPr>
          <p:cNvSpPr>
            <a:spLocks noGrp="1"/>
          </p:cNvSpPr>
          <p:nvPr/>
        </p:nvSpPr>
        <p:spPr>
          <a:xfrm>
            <a:off x="3009900" y="3219450"/>
            <a:ext cx="20383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DF1CD255-406B-4659-86A4-0D4E2A74029C}"/>
              </a:ext>
            </a:extLst>
          </p:cNvPr>
          <p:cNvSpPr>
            <a:spLocks noGrp="1"/>
          </p:cNvSpPr>
          <p:nvPr/>
        </p:nvSpPr>
        <p:spPr>
          <a:xfrm>
            <a:off x="3009900" y="3219450"/>
            <a:ext cx="47625" cy="8191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20AE1CA5-1A7E-4416-82D0-0D55F296D39C}"/>
              </a:ext>
            </a:extLst>
          </p:cNvPr>
          <p:cNvSpPr>
            <a:spLocks noGrp="1"/>
          </p:cNvSpPr>
          <p:nvPr/>
        </p:nvSpPr>
        <p:spPr>
          <a:xfrm>
            <a:off x="3181350" y="335280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Captain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19955D6B-AEBE-4E0B-9D4E-86C5F3D66B43}"/>
              </a:ext>
            </a:extLst>
          </p:cNvPr>
          <p:cNvSpPr>
            <a:spLocks noGrp="1"/>
          </p:cNvSpPr>
          <p:nvPr/>
        </p:nvSpPr>
        <p:spPr>
          <a:xfrm>
            <a:off x="3181350" y="36195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Speeds up nearby allies.</a:t>
            </a:r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B0970384-EEE1-4B6C-AECB-3F2EF160399B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2038350" cy="81915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C8B0CA6B-151C-40E2-9B76-1F4BAA3D9A07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47625" cy="8191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7EA11329-127C-48A8-B6C4-9E084C66345B}"/>
              </a:ext>
            </a:extLst>
          </p:cNvPr>
          <p:cNvSpPr>
            <a:spLocks noGrp="1"/>
          </p:cNvSpPr>
          <p:nvPr/>
        </p:nvSpPr>
        <p:spPr>
          <a:xfrm>
            <a:off x="5981700" y="335280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Boss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BFB6618E-12CA-45DC-A6C7-8EE7D09027A9}"/>
              </a:ext>
            </a:extLst>
          </p:cNvPr>
          <p:cNvSpPr>
            <a:spLocks noGrp="1"/>
          </p:cNvSpPr>
          <p:nvPr/>
        </p:nvSpPr>
        <p:spPr>
          <a:xfrm>
            <a:off x="5981700" y="3619500"/>
            <a:ext cx="1733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Features archetypes, telegraphs, and special rewards.</a:t>
            </a:r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490D1C4F-8E01-433B-93CA-6B7194F7C984}"/>
              </a:ext>
            </a:extLst>
          </p:cNvPr>
          <p:cNvSpPr>
            <a:spLocks noGrp="1"/>
          </p:cNvSpPr>
          <p:nvPr/>
        </p:nvSpPr>
        <p:spPr>
          <a:xfrm>
            <a:off x="2790825" y="2657475"/>
            <a:ext cx="19050" cy="981075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F1844904-722A-4379-9860-432EADC6BF2C}"/>
              </a:ext>
            </a:extLst>
          </p:cNvPr>
          <p:cNvSpPr>
            <a:spLocks noGrp="1"/>
          </p:cNvSpPr>
          <p:nvPr/>
        </p:nvSpPr>
        <p:spPr>
          <a:xfrm>
            <a:off x="3009900" y="4438650"/>
            <a:ext cx="723900" cy="190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231E56E6-E664-4065-A301-244B90540F66}"/>
              </a:ext>
            </a:extLst>
          </p:cNvPr>
          <p:cNvSpPr>
            <a:spLocks noGrp="1"/>
          </p:cNvSpPr>
          <p:nvPr/>
        </p:nvSpPr>
        <p:spPr>
          <a:xfrm>
            <a:off x="5048250" y="3209925"/>
            <a:ext cx="762000" cy="190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8D61AECC-2155-481E-BB4F-E81DDCA9E06E}"/>
              </a:ext>
            </a:extLst>
          </p:cNvPr>
          <p:cNvSpPr>
            <a:spLocks noGrp="1"/>
          </p:cNvSpPr>
          <p:nvPr/>
        </p:nvSpPr>
        <p:spPr>
          <a:xfrm>
            <a:off x="6353175" y="4038600"/>
            <a:ext cx="19050" cy="1019175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7DBA8005-D4EE-4F8A-A536-4FAF752A0F63}"/>
              </a:ext>
            </a:extLst>
          </p:cNvPr>
          <p:cNvSpPr>
            <a:spLocks noGrp="1"/>
          </p:cNvSpPr>
          <p:nvPr/>
        </p:nvSpPr>
        <p:spPr>
          <a:xfrm>
            <a:off x="6353175" y="2200275"/>
            <a:ext cx="19050" cy="1019175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7AE34E1C-4C43-4B31-A924-34759C556912}"/>
              </a:ext>
            </a:extLst>
          </p:cNvPr>
          <p:cNvSpPr>
            <a:spLocks noGrp="1"/>
          </p:cNvSpPr>
          <p:nvPr/>
        </p:nvSpPr>
        <p:spPr>
          <a:xfrm>
            <a:off x="990600" y="575310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Result: The player manages not just firepower, but positioning and target priority.</a:t>
            </a:r>
          </a:p>
        </p:txBody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1A3A9E47-F634-49D3-BCBD-79E3BD06E1F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enemy-system, enemy-formation, enemy-visual, and local screenshot</a:t>
            </a:r>
          </a:p>
        </p:txBody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A16C7858-3193-423F-9458-6BD840534A43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713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Dikdörtgen 87">
            <a:extLst>
              <a:ext uri="{FF2B5EF4-FFF2-40B4-BE49-F238E27FC236}">
                <a16:creationId xmlns:a16="http://schemas.microsoft.com/office/drawing/2014/main" id="{BE790DA2-396B-4B60-9F87-0287FB8FE7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7ED335DB-7FE7-4671-A4C2-0FAD7CE528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F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801531-89C5-460F-98A1-E456DD4D4AC0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4DF40F-AE23-4100-B210-24DA82E902EB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E93682-B03D-49A2-877A-3BA2C3C515AA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B4F549-529E-412C-ABC3-4BBEB6AF6BE4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F71DCF-2BDD-4DB7-B1C2-AFD703AA47E0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D0C1A1-98FD-4125-B65C-7DECB865DD40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79CF3D-D79E-43FE-B471-0C4721EE93E9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61D567-3D23-47CE-B1C3-81E81F17F205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DE0243-6D2E-449E-AC1C-0F864B37F5B4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933517-D363-4DE8-A488-1A6E858D5191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6A5E55-9787-4F7D-BB00-BEAED5DBF626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19D78C-FAC7-4DDF-A390-A837B79696C7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A097C5-0524-460C-B07B-831908B0E1C6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100B71-398A-4E3A-AE2D-A5AF8336DF09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B7155A-3E2C-471B-81D0-3A2FE478EE44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8CCF7BB-13D3-4736-AD97-F19D6EAA8A02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B3F4072-1266-47FC-BB7C-0BCB64973DE0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917AAD3-4D8D-4462-BAAF-6539264AA42C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5E3B62-B318-4DB5-A5CA-09A5EFBC7E56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0583B26-6153-429A-8E35-2CC136D8A709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947A266-6F88-462A-8FA1-3A58BF275C95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2D21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65792D2-8A46-497C-8740-7C9ED227B24C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211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BBFF48EB-6B38-4579-994E-D157410C351B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5-marker">
            <a:extLst>
              <a:ext uri="{FF2B5EF4-FFF2-40B4-BE49-F238E27FC236}">
                <a16:creationId xmlns:a16="http://schemas.microsoft.com/office/drawing/2014/main" id="{051AEF5A-74B8-4AF7-8983-196F828B82D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5-label">
            <a:extLst>
              <a:ext uri="{FF2B5EF4-FFF2-40B4-BE49-F238E27FC236}">
                <a16:creationId xmlns:a16="http://schemas.microsoft.com/office/drawing/2014/main" id="{3CE9A3F1-90F8-4BC0-9067-E42340D10C08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SYNERGY SYSTEM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D5BB5E6A-5FD7-4BF1-868D-5E0425CBA944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Upgrade selections turn into build paths.</a:t>
            </a:r>
          </a:p>
        </p:txBody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rcRect l="8823" r="8823"/>
          <a:stretch>
            <a:fillRect/>
          </a:stretch>
        </p:blipFill>
        <p:spPr>
          <a:xfrm>
            <a:off x="7981950" y="1752600"/>
            <a:ext cx="3028950" cy="2343150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6D0DFBA2-AFD6-4355-9E0C-1FC2AFC028F8}"/>
              </a:ext>
            </a:extLst>
          </p:cNvPr>
          <p:cNvSpPr>
            <a:spLocks noGrp="1"/>
          </p:cNvSpPr>
          <p:nvPr/>
        </p:nvSpPr>
        <p:spPr>
          <a:xfrm>
            <a:off x="7981950" y="1752600"/>
            <a:ext cx="3028950" cy="234315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A3E148DF-B7EB-47F4-9B3C-4ACA90D962A9}"/>
              </a:ext>
            </a:extLst>
          </p:cNvPr>
          <p:cNvSpPr>
            <a:spLocks noGrp="1"/>
          </p:cNvSpPr>
          <p:nvPr/>
        </p:nvSpPr>
        <p:spPr>
          <a:xfrm>
            <a:off x="8020050" y="1809750"/>
            <a:ext cx="1466850" cy="2286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DA93C512-E250-4306-9FB7-E387AE8D6542}"/>
              </a:ext>
            </a:extLst>
          </p:cNvPr>
          <p:cNvSpPr>
            <a:spLocks noGrp="1"/>
          </p:cNvSpPr>
          <p:nvPr/>
        </p:nvSpPr>
        <p:spPr>
          <a:xfrm>
            <a:off x="7981950" y="4324350"/>
            <a:ext cx="3028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Cards no longer just show stats, but also explain which weapon path they power up.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61EE8E6E-CD15-4F6C-B267-75DFDCBF30F5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1619250" cy="400050"/>
          </a:xfrm>
          <a:prstGeom prst="rect">
            <a:avLst/>
          </a:prstGeom>
          <a:solidFill>
            <a:srgbClr val="172A26"/>
          </a:solidFill>
          <a:ln w="9525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850D9D2F-31F5-4EA9-AC59-CE2042C193C6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Combination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B1734FFF-152A-414D-90C1-62965E226499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1619250" cy="400050"/>
          </a:xfrm>
          <a:prstGeom prst="rect">
            <a:avLst/>
          </a:prstGeom>
          <a:solidFill>
            <a:srgbClr val="172A26"/>
          </a:solidFill>
          <a:ln w="9525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AF3D3AA3-EFDE-49CD-B58B-B619B067AF65}"/>
              </a:ext>
            </a:extLst>
          </p:cNvPr>
          <p:cNvSpPr>
            <a:spLocks noGrp="1"/>
          </p:cNvSpPr>
          <p:nvPr/>
        </p:nvSpPr>
        <p:spPr>
          <a:xfrm>
            <a:off x="2533650" y="2057400"/>
            <a:ext cx="1352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Weapon/Mod</a:t>
            </a:r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00C34946-E463-48EA-9F31-11B941AC09D0}"/>
              </a:ext>
            </a:extLst>
          </p:cNvPr>
          <p:cNvSpPr>
            <a:spLocks noGrp="1"/>
          </p:cNvSpPr>
          <p:nvPr/>
        </p:nvSpPr>
        <p:spPr>
          <a:xfrm>
            <a:off x="4019550" y="1943100"/>
            <a:ext cx="1809750" cy="400050"/>
          </a:xfrm>
          <a:prstGeom prst="rect">
            <a:avLst/>
          </a:prstGeom>
          <a:solidFill>
            <a:srgbClr val="172A26"/>
          </a:solidFill>
          <a:ln w="9525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E6EB6836-AC18-43B8-94F7-A7CDF4FBCDBC}"/>
              </a:ext>
            </a:extLst>
          </p:cNvPr>
          <p:cNvSpPr>
            <a:spLocks noGrp="1"/>
          </p:cNvSpPr>
          <p:nvPr/>
        </p:nvSpPr>
        <p:spPr>
          <a:xfrm>
            <a:off x="4152900" y="2057400"/>
            <a:ext cx="1543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Visual Result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76CC26D1-87C8-4836-8A5F-110216D53B98}"/>
              </a:ext>
            </a:extLst>
          </p:cNvPr>
          <p:cNvSpPr>
            <a:spLocks noGrp="1"/>
          </p:cNvSpPr>
          <p:nvPr/>
        </p:nvSpPr>
        <p:spPr>
          <a:xfrm>
            <a:off x="5829300" y="1943100"/>
            <a:ext cx="1952625" cy="400050"/>
          </a:xfrm>
          <a:prstGeom prst="rect">
            <a:avLst/>
          </a:prstGeom>
          <a:solidFill>
            <a:srgbClr val="172A26"/>
          </a:solidFill>
          <a:ln w="9525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566326F1-9670-44F4-978C-7DB105B6AABE}"/>
              </a:ext>
            </a:extLst>
          </p:cNvPr>
          <p:cNvSpPr>
            <a:spLocks noGrp="1"/>
          </p:cNvSpPr>
          <p:nvPr/>
        </p:nvSpPr>
        <p:spPr>
          <a:xfrm>
            <a:off x="5962650" y="2057400"/>
            <a:ext cx="16859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Player Value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2022D3E3-4BE7-4C10-8850-CE0D39CC7448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811FFC85-E31D-4A7B-BA54-94BC710F2D97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38100" cy="5524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B9392E59-F45B-4850-9743-5002B38E4586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Damage + Split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5DE4FAB5-8290-4C70-90B5-2A8B12B49200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D2839E18-8624-4875-8159-4569AAB3CB12}"/>
              </a:ext>
            </a:extLst>
          </p:cNvPr>
          <p:cNvSpPr>
            <a:spLocks noGrp="1"/>
          </p:cNvSpPr>
          <p:nvPr/>
        </p:nvSpPr>
        <p:spPr>
          <a:xfrm>
            <a:off x="2533650" y="24955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0B8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A"/>
                </a:solidFill>
                <a:latin typeface="Aptos"/>
                <a:ea typeface="Aptos"/>
                <a:cs typeface="Aptos"/>
              </a:rPr>
              <a:t>Twin Plasma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9DCB55C9-33C7-4B7E-864D-72D9AF972404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18097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452CFE74-240D-445C-BE12-AAB8E10BF9B5}"/>
              </a:ext>
            </a:extLst>
          </p:cNvPr>
          <p:cNvSpPr>
            <a:spLocks noGrp="1"/>
          </p:cNvSpPr>
          <p:nvPr/>
        </p:nvSpPr>
        <p:spPr>
          <a:xfrm>
            <a:off x="4152900" y="24955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Wing Turrets</a:t>
            </a: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D2D4D5F2-DA14-4B55-AADF-7944756A13BC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1952625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ED7BF25A-422E-4C59-A9F4-A77A640D690A}"/>
              </a:ext>
            </a:extLst>
          </p:cNvPr>
          <p:cNvSpPr>
            <a:spLocks noGrp="1"/>
          </p:cNvSpPr>
          <p:nvPr/>
        </p:nvSpPr>
        <p:spPr>
          <a:xfrm>
            <a:off x="5962650" y="249555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Crowd Clearing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0D791198-663E-44A4-939A-09C0005E3B8E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16192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7252787D-9728-4A0C-B210-D255F70E941E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38100" cy="5524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91A43590-7278-4697-8FDD-1894C68C5C17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Damage + Rapid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A8D68EB9-5450-44E3-9836-156AFFAC1C4E}"/>
              </a:ext>
            </a:extLst>
          </p:cNvPr>
          <p:cNvSpPr>
            <a:spLocks noGrp="1"/>
          </p:cNvSpPr>
          <p:nvPr/>
        </p:nvSpPr>
        <p:spPr>
          <a:xfrm>
            <a:off x="2400300" y="2895600"/>
            <a:ext cx="16192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14AF482A-D566-4452-858B-FA72F2744E21}"/>
              </a:ext>
            </a:extLst>
          </p:cNvPr>
          <p:cNvSpPr>
            <a:spLocks noGrp="1"/>
          </p:cNvSpPr>
          <p:nvPr/>
        </p:nvSpPr>
        <p:spPr>
          <a:xfrm>
            <a:off x="2533650" y="30480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52D6B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D6BD"/>
                </a:solidFill>
                <a:latin typeface="Aptos"/>
                <a:ea typeface="Aptos"/>
                <a:cs typeface="Aptos"/>
              </a:rPr>
              <a:t>Piercing Laser</a:t>
            </a:r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FFFC7DB0-959D-4FF8-9E28-4B67411C7204}"/>
              </a:ext>
            </a:extLst>
          </p:cNvPr>
          <p:cNvSpPr>
            <a:spLocks noGrp="1"/>
          </p:cNvSpPr>
          <p:nvPr/>
        </p:nvSpPr>
        <p:spPr>
          <a:xfrm>
            <a:off x="4019550" y="2895600"/>
            <a:ext cx="18097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5A7B8455-ABE0-41A6-8997-062D41DE9BFA}"/>
              </a:ext>
            </a:extLst>
          </p:cNvPr>
          <p:cNvSpPr>
            <a:spLocks noGrp="1"/>
          </p:cNvSpPr>
          <p:nvPr/>
        </p:nvSpPr>
        <p:spPr>
          <a:xfrm>
            <a:off x="4152900" y="30480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Thin energy beam</a:t>
            </a:r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1C3619A4-8DDD-4E7B-B52B-6770EAD2FC12}"/>
              </a:ext>
            </a:extLst>
          </p:cNvPr>
          <p:cNvSpPr>
            <a:spLocks noGrp="1"/>
          </p:cNvSpPr>
          <p:nvPr/>
        </p:nvSpPr>
        <p:spPr>
          <a:xfrm>
            <a:off x="5829300" y="2895600"/>
            <a:ext cx="1952625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0DFC4C6F-5BFD-4BC3-AF71-E719E464AF51}"/>
              </a:ext>
            </a:extLst>
          </p:cNvPr>
          <p:cNvSpPr>
            <a:spLocks noGrp="1"/>
          </p:cNvSpPr>
          <p:nvPr/>
        </p:nvSpPr>
        <p:spPr>
          <a:xfrm>
            <a:off x="5962650" y="30480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Single-target melting</a:t>
            </a:r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7958906F-3D93-4673-A774-51D6C73888D8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D4CFAE08-7780-4EF9-9767-09C3F3EEB334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38100" cy="5524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A2661805-0ACC-4EB8-9446-1860F41D12A9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Engine + Rapid</a:t>
            </a:r>
          </a:p>
        </p:txBody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EC595733-CF62-450B-B552-D554A9551D3F}"/>
              </a:ext>
            </a:extLst>
          </p:cNvPr>
          <p:cNvSpPr>
            <a:spLocks noGrp="1"/>
          </p:cNvSpPr>
          <p:nvPr/>
        </p:nvSpPr>
        <p:spPr>
          <a:xfrm>
            <a:off x="2400300" y="34480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B9068DE1-8B24-41FF-8EDA-0DD990768A41}"/>
              </a:ext>
            </a:extLst>
          </p:cNvPr>
          <p:cNvSpPr>
            <a:spLocks noGrp="1"/>
          </p:cNvSpPr>
          <p:nvPr/>
        </p:nvSpPr>
        <p:spPr>
          <a:xfrm>
            <a:off x="2533650" y="36004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58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8CFF"/>
                </a:solidFill>
                <a:latin typeface="Aptos"/>
                <a:ea typeface="Aptos"/>
                <a:cs typeface="Aptos"/>
              </a:rPr>
              <a:t>Drone Support</a:t>
            </a:r>
          </a:p>
        </p:txBody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6233A98D-9104-40A5-880D-BF1BA66D1D87}"/>
              </a:ext>
            </a:extLst>
          </p:cNvPr>
          <p:cNvSpPr>
            <a:spLocks noGrp="1"/>
          </p:cNvSpPr>
          <p:nvPr/>
        </p:nvSpPr>
        <p:spPr>
          <a:xfrm>
            <a:off x="4019550" y="3448050"/>
            <a:ext cx="18097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D23A2202-54F0-4740-8CDA-A2299EB48F77}"/>
              </a:ext>
            </a:extLst>
          </p:cNvPr>
          <p:cNvSpPr>
            <a:spLocks noGrp="1"/>
          </p:cNvSpPr>
          <p:nvPr/>
        </p:nvSpPr>
        <p:spPr>
          <a:xfrm>
            <a:off x="4152900" y="36004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Support lasers</a:t>
            </a:r>
          </a:p>
        </p:txBody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A03ABD1B-7997-4C86-A590-5D33766F67E0}"/>
              </a:ext>
            </a:extLst>
          </p:cNvPr>
          <p:cNvSpPr>
            <a:spLocks noGrp="1"/>
          </p:cNvSpPr>
          <p:nvPr/>
        </p:nvSpPr>
        <p:spPr>
          <a:xfrm>
            <a:off x="5829300" y="3448050"/>
            <a:ext cx="1952625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Dikdörtgen 66">
            <a:extLst>
              <a:ext uri="{FF2B5EF4-FFF2-40B4-BE49-F238E27FC236}">
                <a16:creationId xmlns:a16="http://schemas.microsoft.com/office/drawing/2014/main" id="{22096CCF-AE68-4B6A-BB83-9CB439658959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Safe kiting path</a:t>
            </a:r>
          </a:p>
        </p:txBody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93F59771-60AF-4F73-B913-02E52A2824CD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6192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848EEDE5-68E4-42B0-BBF6-05C37646DDB5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38100" cy="5524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Dikdörtgen 69">
            <a:extLst>
              <a:ext uri="{FF2B5EF4-FFF2-40B4-BE49-F238E27FC236}">
                <a16:creationId xmlns:a16="http://schemas.microsoft.com/office/drawing/2014/main" id="{5382FFAC-4167-49A9-8082-543C91282FF7}"/>
              </a:ext>
            </a:extLst>
          </p:cNvPr>
          <p:cNvSpPr>
            <a:spLocks noGrp="1"/>
          </p:cNvSpPr>
          <p:nvPr/>
        </p:nvSpPr>
        <p:spPr>
          <a:xfrm>
            <a:off x="914400" y="41529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Nova core</a:t>
            </a:r>
          </a:p>
        </p:txBody>
      </p:sp>
      <p:sp>
        <p:nvSpPr>
          <p:cNvPr id="71" name="Dikdörtgen 70">
            <a:extLst>
              <a:ext uri="{FF2B5EF4-FFF2-40B4-BE49-F238E27FC236}">
                <a16:creationId xmlns:a16="http://schemas.microsoft.com/office/drawing/2014/main" id="{880AF008-A7AA-4ADC-9833-38D1AE87DC1F}"/>
              </a:ext>
            </a:extLst>
          </p:cNvPr>
          <p:cNvSpPr>
            <a:spLocks noGrp="1"/>
          </p:cNvSpPr>
          <p:nvPr/>
        </p:nvSpPr>
        <p:spPr>
          <a:xfrm>
            <a:off x="2400300" y="4000500"/>
            <a:ext cx="16192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Dikdörtgen 71">
            <a:extLst>
              <a:ext uri="{FF2B5EF4-FFF2-40B4-BE49-F238E27FC236}">
                <a16:creationId xmlns:a16="http://schemas.microsoft.com/office/drawing/2014/main" id="{1CD3C92B-A52F-449C-A499-B389C7402A06}"/>
              </a:ext>
            </a:extLst>
          </p:cNvPr>
          <p:cNvSpPr>
            <a:spLocks noGrp="1"/>
          </p:cNvSpPr>
          <p:nvPr/>
        </p:nvSpPr>
        <p:spPr>
          <a:xfrm>
            <a:off x="2533650" y="41529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0B8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B84A"/>
                </a:solidFill>
                <a:latin typeface="Aptos"/>
                <a:ea typeface="Aptos"/>
                <a:cs typeface="Aptos"/>
              </a:rPr>
              <a:t>Nova Lance</a:t>
            </a:r>
          </a:p>
        </p:txBody>
      </p:sp>
      <p:sp>
        <p:nvSpPr>
          <p:cNvPr id="73" name="Dikdörtgen 72">
            <a:extLst>
              <a:ext uri="{FF2B5EF4-FFF2-40B4-BE49-F238E27FC236}">
                <a16:creationId xmlns:a16="http://schemas.microsoft.com/office/drawing/2014/main" id="{B9162B5B-E424-4C92-9953-11AACE60CBF2}"/>
              </a:ext>
            </a:extLst>
          </p:cNvPr>
          <p:cNvSpPr>
            <a:spLocks noGrp="1"/>
          </p:cNvSpPr>
          <p:nvPr/>
        </p:nvSpPr>
        <p:spPr>
          <a:xfrm>
            <a:off x="4019550" y="4000500"/>
            <a:ext cx="1809750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Dikdörtgen 73">
            <a:extLst>
              <a:ext uri="{FF2B5EF4-FFF2-40B4-BE49-F238E27FC236}">
                <a16:creationId xmlns:a16="http://schemas.microsoft.com/office/drawing/2014/main" id="{D51FA83C-7374-4C3B-A950-3B3BA5C41622}"/>
              </a:ext>
            </a:extLst>
          </p:cNvPr>
          <p:cNvSpPr>
            <a:spLocks noGrp="1"/>
          </p:cNvSpPr>
          <p:nvPr/>
        </p:nvSpPr>
        <p:spPr>
          <a:xfrm>
            <a:off x="4152900" y="41529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Center core flare</a:t>
            </a:r>
          </a:p>
        </p:txBody>
      </p:sp>
      <p:sp>
        <p:nvSpPr>
          <p:cNvPr id="75" name="Dikdörtgen 74">
            <a:extLst>
              <a:ext uri="{FF2B5EF4-FFF2-40B4-BE49-F238E27FC236}">
                <a16:creationId xmlns:a16="http://schemas.microsoft.com/office/drawing/2014/main" id="{EE5024A3-15E8-4DAF-8272-982A68A28D09}"/>
              </a:ext>
            </a:extLst>
          </p:cNvPr>
          <p:cNvSpPr>
            <a:spLocks noGrp="1"/>
          </p:cNvSpPr>
          <p:nvPr/>
        </p:nvSpPr>
        <p:spPr>
          <a:xfrm>
            <a:off x="5829300" y="4000500"/>
            <a:ext cx="1952625" cy="552450"/>
          </a:xfrm>
          <a:prstGeom prst="rect">
            <a:avLst/>
          </a:prstGeom>
          <a:solidFill>
            <a:srgbClr val="0D1716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Dikdörtgen 75">
            <a:extLst>
              <a:ext uri="{FF2B5EF4-FFF2-40B4-BE49-F238E27FC236}">
                <a16:creationId xmlns:a16="http://schemas.microsoft.com/office/drawing/2014/main" id="{EC68B831-3A29-4759-BB45-58F505457A3D}"/>
              </a:ext>
            </a:extLst>
          </p:cNvPr>
          <p:cNvSpPr>
            <a:spLocks noGrp="1"/>
          </p:cNvSpPr>
          <p:nvPr/>
        </p:nvSpPr>
        <p:spPr>
          <a:xfrm>
            <a:off x="5962650" y="415290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Area explosion</a:t>
            </a:r>
          </a:p>
        </p:txBody>
      </p:sp>
      <p:sp>
        <p:nvSpPr>
          <p:cNvPr id="77" name="Dikdörtgen 76">
            <a:extLst>
              <a:ext uri="{FF2B5EF4-FFF2-40B4-BE49-F238E27FC236}">
                <a16:creationId xmlns:a16="http://schemas.microsoft.com/office/drawing/2014/main" id="{EF789515-88C7-43D3-911A-8E24159B1418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Dikdörtgen 77">
            <a:extLst>
              <a:ext uri="{FF2B5EF4-FFF2-40B4-BE49-F238E27FC236}">
                <a16:creationId xmlns:a16="http://schemas.microsoft.com/office/drawing/2014/main" id="{796EDF84-DBBB-4E8C-B8E2-4D7EE81F803F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38100" cy="5524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Dikdörtgen 78">
            <a:extLst>
              <a:ext uri="{FF2B5EF4-FFF2-40B4-BE49-F238E27FC236}">
                <a16:creationId xmlns:a16="http://schemas.microsoft.com/office/drawing/2014/main" id="{A02164FF-A138-4038-94E0-25D82FD53E2E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Phase / Void</a:t>
            </a: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95516151-0562-4CAE-8496-37C0D5FCED5F}"/>
              </a:ext>
            </a:extLst>
          </p:cNvPr>
          <p:cNvSpPr>
            <a:spLocks noGrp="1"/>
          </p:cNvSpPr>
          <p:nvPr/>
        </p:nvSpPr>
        <p:spPr>
          <a:xfrm>
            <a:off x="2400300" y="4552950"/>
            <a:ext cx="16192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45EA15F3-8FB0-427B-87D6-2B8526222DB7}"/>
              </a:ext>
            </a:extLst>
          </p:cNvPr>
          <p:cNvSpPr>
            <a:spLocks noGrp="1"/>
          </p:cNvSpPr>
          <p:nvPr/>
        </p:nvSpPr>
        <p:spPr>
          <a:xfrm>
            <a:off x="2533650" y="47053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58C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8CFF"/>
                </a:solidFill>
                <a:latin typeface="Aptos"/>
                <a:ea typeface="Aptos"/>
                <a:cs typeface="Aptos"/>
              </a:rPr>
              <a:t>Burst / Field</a:t>
            </a:r>
          </a:p>
        </p:txBody>
      </p:sp>
      <p:sp>
        <p:nvSpPr>
          <p:cNvPr id="82" name="Dikdörtgen 81">
            <a:extLst>
              <a:ext uri="{FF2B5EF4-FFF2-40B4-BE49-F238E27FC236}">
                <a16:creationId xmlns:a16="http://schemas.microsoft.com/office/drawing/2014/main" id="{81940E74-C829-4E7F-97B3-26DEF83CCA70}"/>
              </a:ext>
            </a:extLst>
          </p:cNvPr>
          <p:cNvSpPr>
            <a:spLocks noGrp="1"/>
          </p:cNvSpPr>
          <p:nvPr/>
        </p:nvSpPr>
        <p:spPr>
          <a:xfrm>
            <a:off x="4019550" y="4552950"/>
            <a:ext cx="1809750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Dikdörtgen 82">
            <a:extLst>
              <a:ext uri="{FF2B5EF4-FFF2-40B4-BE49-F238E27FC236}">
                <a16:creationId xmlns:a16="http://schemas.microsoft.com/office/drawing/2014/main" id="{1E92C712-735C-47F3-AAD3-C0C3FEDF2661}"/>
              </a:ext>
            </a:extLst>
          </p:cNvPr>
          <p:cNvSpPr>
            <a:spLocks noGrp="1"/>
          </p:cNvSpPr>
          <p:nvPr/>
        </p:nvSpPr>
        <p:spPr>
          <a:xfrm>
            <a:off x="4152900" y="47053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Purple phase rings</a:t>
            </a:r>
          </a:p>
        </p:txBody>
      </p:sp>
      <p:sp>
        <p:nvSpPr>
          <p:cNvPr id="84" name="Dikdörtgen 83">
            <a:extLst>
              <a:ext uri="{FF2B5EF4-FFF2-40B4-BE49-F238E27FC236}">
                <a16:creationId xmlns:a16="http://schemas.microsoft.com/office/drawing/2014/main" id="{13600FC6-FB0E-4D01-8AD3-C7EF454A0568}"/>
              </a:ext>
            </a:extLst>
          </p:cNvPr>
          <p:cNvSpPr>
            <a:spLocks noGrp="1"/>
          </p:cNvSpPr>
          <p:nvPr/>
        </p:nvSpPr>
        <p:spPr>
          <a:xfrm>
            <a:off x="5829300" y="4552950"/>
            <a:ext cx="1952625" cy="552450"/>
          </a:xfrm>
          <a:prstGeom prst="rect">
            <a:avLst/>
          </a:prstGeom>
          <a:solidFill>
            <a:srgbClr val="101D1B"/>
          </a:solidFill>
          <a:ln w="9525">
            <a:solidFill>
              <a:srgbClr val="28413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Dikdörtgen 84">
            <a:extLst>
              <a:ext uri="{FF2B5EF4-FFF2-40B4-BE49-F238E27FC236}">
                <a16:creationId xmlns:a16="http://schemas.microsoft.com/office/drawing/2014/main" id="{6F919CA4-443E-4290-A055-37AA493096C2}"/>
              </a:ext>
            </a:extLst>
          </p:cNvPr>
          <p:cNvSpPr>
            <a:spLocks noGrp="1"/>
          </p:cNvSpPr>
          <p:nvPr/>
        </p:nvSpPr>
        <p:spPr>
          <a:xfrm>
            <a:off x="5962650" y="4705350"/>
            <a:ext cx="16859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Control and defense</a:t>
            </a: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547BB234-D494-40D4-97BE-7B34DC9036BD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upgrade-codex, weapon-evolution, relic-synergy, and overdrive-system</a:t>
            </a: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E0A19EDD-8D72-4C1F-8EEB-A168B9C5BF43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983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Dikdörtgen 77">
            <a:extLst>
              <a:ext uri="{FF2B5EF4-FFF2-40B4-BE49-F238E27FC236}">
                <a16:creationId xmlns:a16="http://schemas.microsoft.com/office/drawing/2014/main" id="{553870FB-4987-401B-A447-25C932C2D5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1411C03-7A9E-42CE-8604-F00F913170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0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FFBCFB-A730-49F6-ACA4-D67BF7621A02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30C252-0044-4343-95E9-4CD6F0AC7896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3EB00D-E4FF-4E6C-8C24-445CF7EDBE23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71A4C0-5C02-45EA-8432-E5804BA2A215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348BB3-9105-41EF-85D7-B7375E834953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2643F8-21B1-4AAF-A814-F9F339898C3C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C61462-B940-4BAE-90DE-850C49CDA80D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787CAC2-5A93-4726-83ED-B499F694B38D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CCF443-77F6-44BD-9902-5F0F3BFC2EF4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7D1F36-452B-4F13-9481-C0171B80EF5B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3060FA-12F1-4BDE-A1A5-DF6CD6974911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DF540E-F55F-47F6-9077-D6345C399995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419905-1EE4-42D4-8274-588BD525A9B5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48B99B7-357C-45A0-8B8A-858A1299CDCD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742CE9-4563-4440-8148-A75A64BE50C6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770AB37-41D7-486C-9804-BB5BACA621EC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B60587A-2560-458A-90B2-6B4A0EBA5641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6CFC271-16B9-4B76-8A45-AAA89C557A52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5C7E69D-047B-470E-BFAA-6E354FEA0238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8639EC-6CC5-4267-A4CF-DE2C03F73B91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07A09B-5186-41AD-BB79-422B3E921C86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143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39500FD-3588-495E-B8D5-E71F6A1E79B3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A0C343EB-62F0-4EE0-921F-2247BF908C98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6-marker">
            <a:extLst>
              <a:ext uri="{FF2B5EF4-FFF2-40B4-BE49-F238E27FC236}">
                <a16:creationId xmlns:a16="http://schemas.microsoft.com/office/drawing/2014/main" id="{25BD3A95-DB26-469D-AF76-4A9FD95232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6-label">
            <a:extLst>
              <a:ext uri="{FF2B5EF4-FFF2-40B4-BE49-F238E27FC236}">
                <a16:creationId xmlns:a16="http://schemas.microsoft.com/office/drawing/2014/main" id="{50BE4FBA-7EC2-4271-B90F-CF7EAC9F4520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MAP AND OBJECTIVES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440F9A0-B15D-45DB-AD57-AB8219A96CD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wide sector invites the player not just to run, but to pursue objectives.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634DD2FC-7DBD-4915-970C-6777AD94CCA7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6438900" cy="3714750"/>
          </a:xfrm>
          <a:prstGeom prst="rect">
            <a:avLst/>
          </a:prstGeom>
          <a:solidFill>
            <a:srgbClr val="081413"/>
          </a:solidFill>
          <a:ln w="14288">
            <a:solidFill>
              <a:srgbClr val="3552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676B2A9B-8B97-4C50-B52D-6685EE80EFCF}"/>
              </a:ext>
            </a:extLst>
          </p:cNvPr>
          <p:cNvSpPr>
            <a:spLocks noGrp="1"/>
          </p:cNvSpPr>
          <p:nvPr/>
        </p:nvSpPr>
        <p:spPr>
          <a:xfrm>
            <a:off x="1066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5B44E8C1-CD92-48E4-A58E-C052F635589A}"/>
              </a:ext>
            </a:extLst>
          </p:cNvPr>
          <p:cNvSpPr>
            <a:spLocks noGrp="1"/>
          </p:cNvSpPr>
          <p:nvPr/>
        </p:nvSpPr>
        <p:spPr>
          <a:xfrm>
            <a:off x="1828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34CF970B-A142-4EC2-92C6-BE7854DE431A}"/>
              </a:ext>
            </a:extLst>
          </p:cNvPr>
          <p:cNvSpPr>
            <a:spLocks noGrp="1"/>
          </p:cNvSpPr>
          <p:nvPr/>
        </p:nvSpPr>
        <p:spPr>
          <a:xfrm>
            <a:off x="2590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132D3E43-BAFE-430E-92AB-1BC21302BFBE}"/>
              </a:ext>
            </a:extLst>
          </p:cNvPr>
          <p:cNvSpPr>
            <a:spLocks noGrp="1"/>
          </p:cNvSpPr>
          <p:nvPr/>
        </p:nvSpPr>
        <p:spPr>
          <a:xfrm>
            <a:off x="3352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4E00DAEE-CC97-41B0-A622-2E388E10E7AA}"/>
              </a:ext>
            </a:extLst>
          </p:cNvPr>
          <p:cNvSpPr>
            <a:spLocks noGrp="1"/>
          </p:cNvSpPr>
          <p:nvPr/>
        </p:nvSpPr>
        <p:spPr>
          <a:xfrm>
            <a:off x="4114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C8238486-FA90-42EC-BC28-BA9FAF4B73FB}"/>
              </a:ext>
            </a:extLst>
          </p:cNvPr>
          <p:cNvSpPr>
            <a:spLocks noGrp="1"/>
          </p:cNvSpPr>
          <p:nvPr/>
        </p:nvSpPr>
        <p:spPr>
          <a:xfrm>
            <a:off x="4876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D6A07A55-3B40-408A-96F7-A6E1474D9DE6}"/>
              </a:ext>
            </a:extLst>
          </p:cNvPr>
          <p:cNvSpPr>
            <a:spLocks noGrp="1"/>
          </p:cNvSpPr>
          <p:nvPr/>
        </p:nvSpPr>
        <p:spPr>
          <a:xfrm>
            <a:off x="5638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B554DD79-46A4-4035-A10C-45A661298CD3}"/>
              </a:ext>
            </a:extLst>
          </p:cNvPr>
          <p:cNvSpPr>
            <a:spLocks noGrp="1"/>
          </p:cNvSpPr>
          <p:nvPr/>
        </p:nvSpPr>
        <p:spPr>
          <a:xfrm>
            <a:off x="6400800" y="2152650"/>
            <a:ext cx="9525" cy="3238500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9617A0D1-104F-4C34-B857-D20E908C55FD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5829300" cy="9525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39430DD7-8D13-4C29-8FE7-E69BCADE7729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5829300" cy="9525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6822A09C-3AE8-4C46-954B-7EFB05797AE0}"/>
              </a:ext>
            </a:extLst>
          </p:cNvPr>
          <p:cNvSpPr>
            <a:spLocks noGrp="1"/>
          </p:cNvSpPr>
          <p:nvPr/>
        </p:nvSpPr>
        <p:spPr>
          <a:xfrm>
            <a:off x="933450" y="3676650"/>
            <a:ext cx="5829300" cy="9525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95538A37-7D57-4E40-BEE9-6E4BAA4462A5}"/>
              </a:ext>
            </a:extLst>
          </p:cNvPr>
          <p:cNvSpPr>
            <a:spLocks noGrp="1"/>
          </p:cNvSpPr>
          <p:nvPr/>
        </p:nvSpPr>
        <p:spPr>
          <a:xfrm>
            <a:off x="933450" y="4343400"/>
            <a:ext cx="5829300" cy="9525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115FA24A-0E70-48DF-8CE6-7819412E2451}"/>
              </a:ext>
            </a:extLst>
          </p:cNvPr>
          <p:cNvSpPr>
            <a:spLocks noGrp="1"/>
          </p:cNvSpPr>
          <p:nvPr/>
        </p:nvSpPr>
        <p:spPr>
          <a:xfrm>
            <a:off x="933450" y="5010150"/>
            <a:ext cx="5829300" cy="9525"/>
          </a:xfrm>
          <a:prstGeom prst="rect">
            <a:avLst/>
          </a:prstGeom>
          <a:solidFill>
            <a:srgbClr val="1730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8DE59676-4FE8-4B10-8FAA-1AA155F70BE0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190750" cy="1238250"/>
          </a:xfrm>
          <a:prstGeom prst="rect">
            <a:avLst/>
          </a:prstGeom>
          <a:solidFill>
            <a:srgbClr val="52D6BD">
              <a:alpha val="9412"/>
            </a:srgbClr>
          </a:solidFill>
          <a:ln w="1905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4A7CE7E8-9158-4E28-97A6-A61886FB0906}"/>
              </a:ext>
            </a:extLst>
          </p:cNvPr>
          <p:cNvSpPr>
            <a:spLocks noGrp="1"/>
          </p:cNvSpPr>
          <p:nvPr/>
        </p:nvSpPr>
        <p:spPr>
          <a:xfrm>
            <a:off x="2628900" y="3105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camera view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25FC10-BA90-43E4-9072-CBC598FC3DDE}"/>
              </a:ext>
            </a:extLst>
          </p:cNvPr>
          <p:cNvSpPr>
            <a:spLocks noGrp="1"/>
          </p:cNvSpPr>
          <p:nvPr/>
        </p:nvSpPr>
        <p:spPr>
          <a:xfrm>
            <a:off x="3390900" y="3524250"/>
            <a:ext cx="190500" cy="190500"/>
          </a:xfrm>
          <a:prstGeom prst="ellipse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625C1625-D499-4E1B-A790-94C8768DA579}"/>
              </a:ext>
            </a:extLst>
          </p:cNvPr>
          <p:cNvSpPr>
            <a:spLocks noGrp="1"/>
          </p:cNvSpPr>
          <p:nvPr/>
        </p:nvSpPr>
        <p:spPr>
          <a:xfrm>
            <a:off x="3657600" y="3533775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2DFB6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DB439BF-7DE3-4C3C-9D8B-041BF5C1B12F}"/>
              </a:ext>
            </a:extLst>
          </p:cNvPr>
          <p:cNvSpPr>
            <a:spLocks noGrp="1"/>
          </p:cNvSpPr>
          <p:nvPr/>
        </p:nvSpPr>
        <p:spPr>
          <a:xfrm>
            <a:off x="1657350" y="2762250"/>
            <a:ext cx="247650" cy="247650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7192521-11B7-4B41-9C67-2DEC86E03886}"/>
              </a:ext>
            </a:extLst>
          </p:cNvPr>
          <p:cNvSpPr>
            <a:spLocks noGrp="1"/>
          </p:cNvSpPr>
          <p:nvPr/>
        </p:nvSpPr>
        <p:spPr>
          <a:xfrm>
            <a:off x="1733550" y="2838450"/>
            <a:ext cx="95250" cy="95250"/>
          </a:xfrm>
          <a:prstGeom prst="ellipse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836CD494-7F65-4CC3-AF24-7DA62EB81FF1}"/>
              </a:ext>
            </a:extLst>
          </p:cNvPr>
          <p:cNvSpPr>
            <a:spLocks noGrp="1"/>
          </p:cNvSpPr>
          <p:nvPr/>
        </p:nvSpPr>
        <p:spPr>
          <a:xfrm>
            <a:off x="1409700" y="30670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F0B84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F0B84A"/>
                </a:solidFill>
                <a:latin typeface="Aptos Mono"/>
                <a:ea typeface="Aptos Mono"/>
                <a:cs typeface="Aptos Mono"/>
              </a:rPr>
              <a:t>Supply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7D01AF6-8296-42C7-AEFD-F788AABAEDF2}"/>
              </a:ext>
            </a:extLst>
          </p:cNvPr>
          <p:cNvSpPr>
            <a:spLocks noGrp="1"/>
          </p:cNvSpPr>
          <p:nvPr/>
        </p:nvSpPr>
        <p:spPr>
          <a:xfrm>
            <a:off x="5676900" y="2628900"/>
            <a:ext cx="247650" cy="247650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597B9F8-7DF6-4124-91F0-876C36FCD698}"/>
              </a:ext>
            </a:extLst>
          </p:cNvPr>
          <p:cNvSpPr>
            <a:spLocks noGrp="1"/>
          </p:cNvSpPr>
          <p:nvPr/>
        </p:nvSpPr>
        <p:spPr>
          <a:xfrm>
            <a:off x="5753100" y="2705100"/>
            <a:ext cx="95250" cy="95250"/>
          </a:xfrm>
          <a:prstGeom prst="ellipse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491F5671-8719-4EF6-8ADF-F2851942F9C0}"/>
              </a:ext>
            </a:extLst>
          </p:cNvPr>
          <p:cNvSpPr>
            <a:spLocks noGrp="1"/>
          </p:cNvSpPr>
          <p:nvPr/>
        </p:nvSpPr>
        <p:spPr>
          <a:xfrm>
            <a:off x="5429250" y="29337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Signal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E0F42F4-CEF6-4341-A0C9-5D3E72F36965}"/>
              </a:ext>
            </a:extLst>
          </p:cNvPr>
          <p:cNvSpPr>
            <a:spLocks noGrp="1"/>
          </p:cNvSpPr>
          <p:nvPr/>
        </p:nvSpPr>
        <p:spPr>
          <a:xfrm>
            <a:off x="5905500" y="4876800"/>
            <a:ext cx="247650" cy="247650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F19E587-9203-4882-B345-9D9C902D1038}"/>
              </a:ext>
            </a:extLst>
          </p:cNvPr>
          <p:cNvSpPr>
            <a:spLocks noGrp="1"/>
          </p:cNvSpPr>
          <p:nvPr/>
        </p:nvSpPr>
        <p:spPr>
          <a:xfrm>
            <a:off x="5981700" y="4953000"/>
            <a:ext cx="95250" cy="95250"/>
          </a:xfrm>
          <a:prstGeom prst="ellipse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5955592C-9EE4-4D95-9AF6-23030854A566}"/>
              </a:ext>
            </a:extLst>
          </p:cNvPr>
          <p:cNvSpPr>
            <a:spLocks noGrp="1"/>
          </p:cNvSpPr>
          <p:nvPr/>
        </p:nvSpPr>
        <p:spPr>
          <a:xfrm>
            <a:off x="5657850" y="5181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A58CF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A58CFF"/>
                </a:solidFill>
                <a:latin typeface="Aptos Mono"/>
                <a:ea typeface="Aptos Mono"/>
                <a:cs typeface="Aptos Mono"/>
              </a:rPr>
              <a:t>Anomaly</a:t>
            </a:r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5F2CC2F8-3089-411C-B4FC-515820C05E69}"/>
              </a:ext>
            </a:extLst>
          </p:cNvPr>
          <p:cNvSpPr>
            <a:spLocks noGrp="1"/>
          </p:cNvSpPr>
          <p:nvPr/>
        </p:nvSpPr>
        <p:spPr>
          <a:xfrm>
            <a:off x="5962650" y="4724400"/>
            <a:ext cx="81915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B9523280-C378-4E95-9935-27997AA96981}"/>
              </a:ext>
            </a:extLst>
          </p:cNvPr>
          <p:cNvSpPr>
            <a:spLocks noGrp="1"/>
          </p:cNvSpPr>
          <p:nvPr/>
        </p:nvSpPr>
        <p:spPr>
          <a:xfrm>
            <a:off x="6076950" y="490537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A58C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58CFF"/>
                </a:solidFill>
                <a:latin typeface="Aptos Mono"/>
                <a:ea typeface="Aptos Mono"/>
                <a:cs typeface="Aptos Mono"/>
              </a:rPr>
              <a:t>radar blip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FD107E0D-DDD5-46E2-9F96-1EE89764768C}"/>
              </a:ext>
            </a:extLst>
          </p:cNvPr>
          <p:cNvSpPr>
            <a:spLocks noGrp="1"/>
          </p:cNvSpPr>
          <p:nvPr/>
        </p:nvSpPr>
        <p:spPr>
          <a:xfrm>
            <a:off x="7600950" y="1847850"/>
            <a:ext cx="34290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B6F71125-FDC4-4978-8FF6-C96D08AF087B}"/>
              </a:ext>
            </a:extLst>
          </p:cNvPr>
          <p:cNvSpPr>
            <a:spLocks noGrp="1"/>
          </p:cNvSpPr>
          <p:nvPr/>
        </p:nvSpPr>
        <p:spPr>
          <a:xfrm>
            <a:off x="7600950" y="1847850"/>
            <a:ext cx="38100" cy="8572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621FE996-4810-4749-AD98-E5FB5602DDF9}"/>
              </a:ext>
            </a:extLst>
          </p:cNvPr>
          <p:cNvSpPr>
            <a:spLocks noGrp="1"/>
          </p:cNvSpPr>
          <p:nvPr/>
        </p:nvSpPr>
        <p:spPr>
          <a:xfrm>
            <a:off x="7772400" y="1981200"/>
            <a:ext cx="310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Signal Station</a:t>
            </a:r>
          </a:p>
        </p:txBody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F09F2340-9011-4FE8-BBC0-EF5A359967A3}"/>
              </a:ext>
            </a:extLst>
          </p:cNvPr>
          <p:cNvSpPr>
            <a:spLocks noGrp="1"/>
          </p:cNvSpPr>
          <p:nvPr/>
        </p:nvSpPr>
        <p:spPr>
          <a:xfrm>
            <a:off x="7772400" y="22288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Progresses when staying close; grants XP and overdrive charge.</a:t>
            </a:r>
          </a:p>
        </p:txBody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5BD8A96C-62DB-461E-92BC-8DE695E669A8}"/>
              </a:ext>
            </a:extLst>
          </p:cNvPr>
          <p:cNvSpPr>
            <a:spLocks noGrp="1"/>
          </p:cNvSpPr>
          <p:nvPr/>
        </p:nvSpPr>
        <p:spPr>
          <a:xfrm>
            <a:off x="7943850" y="2895600"/>
            <a:ext cx="30861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0E2C2FD2-D445-40B6-AA8C-CFD05ACEB052}"/>
              </a:ext>
            </a:extLst>
          </p:cNvPr>
          <p:cNvSpPr>
            <a:spLocks noGrp="1"/>
          </p:cNvSpPr>
          <p:nvPr/>
        </p:nvSpPr>
        <p:spPr>
          <a:xfrm>
            <a:off x="7943850" y="2895600"/>
            <a:ext cx="38100" cy="8572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CEC3C7EA-7C75-4F75-B10B-F2C9E7348FA7}"/>
              </a:ext>
            </a:extLst>
          </p:cNvPr>
          <p:cNvSpPr>
            <a:spLocks noGrp="1"/>
          </p:cNvSpPr>
          <p:nvPr/>
        </p:nvSpPr>
        <p:spPr>
          <a:xfrm>
            <a:off x="8115300" y="30289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Supply Pod</a:t>
            </a:r>
          </a:p>
        </p:txBody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0B2B4BFD-F2FE-4551-A99B-5FDB787688F3}"/>
              </a:ext>
            </a:extLst>
          </p:cNvPr>
          <p:cNvSpPr>
            <a:spLocks noGrp="1"/>
          </p:cNvSpPr>
          <p:nvPr/>
        </p:nvSpPr>
        <p:spPr>
          <a:xfrm>
            <a:off x="8115300" y="3276600"/>
            <a:ext cx="276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Creates core/loot rewards via a risky route.</a:t>
            </a:r>
          </a:p>
        </p:txBody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583455B6-A577-429E-A9E9-B36A1A9F7498}"/>
              </a:ext>
            </a:extLst>
          </p:cNvPr>
          <p:cNvSpPr>
            <a:spLocks noGrp="1"/>
          </p:cNvSpPr>
          <p:nvPr/>
        </p:nvSpPr>
        <p:spPr>
          <a:xfrm>
            <a:off x="7600950" y="3943350"/>
            <a:ext cx="342900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Dikdörtgen 66">
            <a:extLst>
              <a:ext uri="{FF2B5EF4-FFF2-40B4-BE49-F238E27FC236}">
                <a16:creationId xmlns:a16="http://schemas.microsoft.com/office/drawing/2014/main" id="{06B95C7D-2C9D-4565-A85E-AFC5269F292F}"/>
              </a:ext>
            </a:extLst>
          </p:cNvPr>
          <p:cNvSpPr>
            <a:spLocks noGrp="1"/>
          </p:cNvSpPr>
          <p:nvPr/>
        </p:nvSpPr>
        <p:spPr>
          <a:xfrm>
            <a:off x="7600950" y="3943350"/>
            <a:ext cx="38100" cy="8572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AFCD56D5-04CB-4E9F-93FD-19E823A83165}"/>
              </a:ext>
            </a:extLst>
          </p:cNvPr>
          <p:cNvSpPr>
            <a:spLocks noGrp="1"/>
          </p:cNvSpPr>
          <p:nvPr/>
        </p:nvSpPr>
        <p:spPr>
          <a:xfrm>
            <a:off x="7772400" y="4076700"/>
            <a:ext cx="3105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Anomaly Zone</a:t>
            </a:r>
          </a:p>
        </p:txBody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2B7296C0-6F6C-45FD-86AE-683D50B7BB48}"/>
              </a:ext>
            </a:extLst>
          </p:cNvPr>
          <p:cNvSpPr>
            <a:spLocks noGrp="1"/>
          </p:cNvSpPr>
          <p:nvPr/>
        </p:nvSpPr>
        <p:spPr>
          <a:xfrm>
            <a:off x="7772400" y="4324350"/>
            <a:ext cx="3105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Increases pressure, then rewards overdrive.</a:t>
            </a:r>
          </a:p>
        </p:txBody>
      </p:sp>
      <p:sp>
        <p:nvSpPr>
          <p:cNvPr id="70" name="Dikdörtgen 69">
            <a:extLst>
              <a:ext uri="{FF2B5EF4-FFF2-40B4-BE49-F238E27FC236}">
                <a16:creationId xmlns:a16="http://schemas.microsoft.com/office/drawing/2014/main" id="{F4487E4E-8867-4091-B856-B42D66DF01FC}"/>
              </a:ext>
            </a:extLst>
          </p:cNvPr>
          <p:cNvSpPr>
            <a:spLocks noGrp="1"/>
          </p:cNvSpPr>
          <p:nvPr/>
        </p:nvSpPr>
        <p:spPr>
          <a:xfrm>
            <a:off x="7943850" y="5105400"/>
            <a:ext cx="148590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Dikdörtgen 70">
            <a:extLst>
              <a:ext uri="{FF2B5EF4-FFF2-40B4-BE49-F238E27FC236}">
                <a16:creationId xmlns:a16="http://schemas.microsoft.com/office/drawing/2014/main" id="{72ECB504-D18A-4992-B7E6-595943240274}"/>
              </a:ext>
            </a:extLst>
          </p:cNvPr>
          <p:cNvSpPr>
            <a:spLocks noGrp="1"/>
          </p:cNvSpPr>
          <p:nvPr/>
        </p:nvSpPr>
        <p:spPr>
          <a:xfrm>
            <a:off x="8115300" y="5238750"/>
            <a:ext cx="114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1760x1040</a:t>
            </a:r>
          </a:p>
        </p:txBody>
      </p:sp>
      <p:sp>
        <p:nvSpPr>
          <p:cNvPr id="72" name="Dikdörtgen 71">
            <a:extLst>
              <a:ext uri="{FF2B5EF4-FFF2-40B4-BE49-F238E27FC236}">
                <a16:creationId xmlns:a16="http://schemas.microsoft.com/office/drawing/2014/main" id="{DFB448F4-F976-44F8-83CB-6F7510262889}"/>
              </a:ext>
            </a:extLst>
          </p:cNvPr>
          <p:cNvSpPr>
            <a:spLocks noGrp="1"/>
          </p:cNvSpPr>
          <p:nvPr/>
        </p:nvSpPr>
        <p:spPr>
          <a:xfrm>
            <a:off x="8115300" y="55816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expanded world</a:t>
            </a:r>
          </a:p>
        </p:txBody>
      </p:sp>
      <p:sp>
        <p:nvSpPr>
          <p:cNvPr id="73" name="Dikdörtgen 72">
            <a:extLst>
              <a:ext uri="{FF2B5EF4-FFF2-40B4-BE49-F238E27FC236}">
                <a16:creationId xmlns:a16="http://schemas.microsoft.com/office/drawing/2014/main" id="{F19FAED4-B5DA-4EBD-92F6-F50FCE3BEF28}"/>
              </a:ext>
            </a:extLst>
          </p:cNvPr>
          <p:cNvSpPr>
            <a:spLocks noGrp="1"/>
          </p:cNvSpPr>
          <p:nvPr/>
        </p:nvSpPr>
        <p:spPr>
          <a:xfrm>
            <a:off x="9601200" y="5105400"/>
            <a:ext cx="14287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Dikdörtgen 73">
            <a:extLst>
              <a:ext uri="{FF2B5EF4-FFF2-40B4-BE49-F238E27FC236}">
                <a16:creationId xmlns:a16="http://schemas.microsoft.com/office/drawing/2014/main" id="{6F136C51-2961-48AC-853C-6786BE163EF3}"/>
              </a:ext>
            </a:extLst>
          </p:cNvPr>
          <p:cNvSpPr>
            <a:spLocks noGrp="1"/>
          </p:cNvSpPr>
          <p:nvPr/>
        </p:nvSpPr>
        <p:spPr>
          <a:xfrm>
            <a:off x="9772650" y="5238750"/>
            <a:ext cx="1085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rPr>
              <a:t>Radar</a:t>
            </a:r>
          </a:p>
        </p:txBody>
      </p:sp>
      <p:sp>
        <p:nvSpPr>
          <p:cNvPr id="75" name="Dikdörtgen 74">
            <a:extLst>
              <a:ext uri="{FF2B5EF4-FFF2-40B4-BE49-F238E27FC236}">
                <a16:creationId xmlns:a16="http://schemas.microsoft.com/office/drawing/2014/main" id="{CAB631C8-1EE2-461A-8985-9B8887601CC5}"/>
              </a:ext>
            </a:extLst>
          </p:cNvPr>
          <p:cNvSpPr>
            <a:spLocks noGrp="1"/>
          </p:cNvSpPr>
          <p:nvPr/>
        </p:nvSpPr>
        <p:spPr>
          <a:xfrm>
            <a:off x="9772650" y="5581650"/>
            <a:ext cx="1085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objective guidance</a:t>
            </a:r>
          </a:p>
        </p:txBody>
      </p:sp>
      <p:sp>
        <p:nvSpPr>
          <p:cNvPr id="76" name="Dikdörtgen 75">
            <a:extLst>
              <a:ext uri="{FF2B5EF4-FFF2-40B4-BE49-F238E27FC236}">
                <a16:creationId xmlns:a16="http://schemas.microsoft.com/office/drawing/2014/main" id="{E506CDE3-4E52-44EB-B139-87514B3012C2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camera, tactical-objective-system, radar-system, and sector-ui</a:t>
            </a:r>
          </a:p>
        </p:txBody>
      </p:sp>
      <p:sp>
        <p:nvSpPr>
          <p:cNvPr id="77" name="Dikdörtgen 76">
            <a:extLst>
              <a:ext uri="{FF2B5EF4-FFF2-40B4-BE49-F238E27FC236}">
                <a16:creationId xmlns:a16="http://schemas.microsoft.com/office/drawing/2014/main" id="{FD0F5CFF-548E-4B28-94DB-9CD195A13375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003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ikdörtgen 54">
            <a:extLst>
              <a:ext uri="{FF2B5EF4-FFF2-40B4-BE49-F238E27FC236}">
                <a16:creationId xmlns:a16="http://schemas.microsoft.com/office/drawing/2014/main" id="{EBAE8178-4BD3-4E15-BE1A-58C85DBCF7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CE65B41C-02EE-43C8-9391-8A27B09588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F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565FD88-775F-4A11-94E0-650813089F46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52F209-1E14-47CC-9F22-514F34610AC0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074991-5729-4122-BEDD-531020BF64EC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2B71BA-6A47-43B1-9D8B-4D97AFE94417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FCA55B-5559-46DA-ADE2-16A9F4B8AF8B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D25878-11CB-41DD-B7AA-7D582607A53E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4FEE01-FC53-4187-907E-3BC715CD323E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8487D3-6F8D-4ED4-90F5-D2C01C9073EC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2AE47C-FBF0-4F58-898E-9A2C28D3A2E2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09F76D-60DD-4AFD-9A78-1E21729F846D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1AC8B0-4E63-405C-8C52-364902E2CF06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1B410E-DC39-402A-BBA9-2935535EEE1A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90AB082-9A1A-4289-A4A2-F3E1F16695E8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B8343E-8216-4035-BB9A-847BD3F47E9D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DD69360-6A51-4219-8F1D-A220B4156349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2C5501-3520-4A82-A1B3-C4E2CE648363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E13C99-BB69-494F-99AE-A48219686AD4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B74F3B-777C-4348-9A9A-FB3423BD63E4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9CF9502-10BE-435D-A980-5D9B536AA6CA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BD33F13-EB14-4B10-9C6C-28EF4EDA9A35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00BED8A-3550-47D1-9558-0BC3A858FBE8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2D21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DAD00-7082-43EA-9B14-360B6B52F34C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211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86DFCA05-6206-483C-8578-DC11D36CE78C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7-marker">
            <a:extLst>
              <a:ext uri="{FF2B5EF4-FFF2-40B4-BE49-F238E27FC236}">
                <a16:creationId xmlns:a16="http://schemas.microsoft.com/office/drawing/2014/main" id="{D5B22D2E-2575-4F6E-A9C1-67CA78D1C4FC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7-label">
            <a:extLst>
              <a:ext uri="{FF2B5EF4-FFF2-40B4-BE49-F238E27FC236}">
                <a16:creationId xmlns:a16="http://schemas.microsoft.com/office/drawing/2014/main" id="{6F7927E9-B1F1-4CA0-88E2-DAF23B822B9D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BOSS AND RELICS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67295D9D-2654-465C-B0D6-DC66B83BB8F9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boss encounter now sets the stage with warnings, identity, and special rewards.</a:t>
            </a:r>
          </a:p>
        </p:txBody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rcRect t="24113" b="24113"/>
          <a:stretch>
            <a:fillRect/>
          </a:stretch>
        </p:blipFill>
        <p:spPr>
          <a:xfrm>
            <a:off x="685800" y="4629150"/>
            <a:ext cx="3524250" cy="1162050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9815E029-B751-4A0D-A006-D0D57F38B0D5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3524250" cy="116205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D9F1E9AA-39AE-4EB3-A718-2F9095F8B89F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1962150" cy="1162050"/>
          </a:xfrm>
          <a:prstGeom prst="rect">
            <a:avLst/>
          </a:prstGeom>
          <a:solidFill>
            <a:srgbClr val="101D1B"/>
          </a:solidFill>
          <a:ln w="11430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3AB2C706-52A6-4773-8734-56348572344F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47625" cy="116205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19BCDA01-535E-485C-A3F6-2CD816CF29F5}"/>
              </a:ext>
            </a:extLst>
          </p:cNvPr>
          <p:cNvSpPr>
            <a:spLocks noGrp="1"/>
          </p:cNvSpPr>
          <p:nvPr/>
        </p:nvSpPr>
        <p:spPr>
          <a:xfrm>
            <a:off x="1047750" y="2419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Telegraph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479BB8F3-6961-4A0B-9E79-EFAAD44BA056}"/>
              </a:ext>
            </a:extLst>
          </p:cNvPr>
          <p:cNvSpPr>
            <a:spLocks noGrp="1"/>
          </p:cNvSpPr>
          <p:nvPr/>
        </p:nvSpPr>
        <p:spPr>
          <a:xfrm>
            <a:off x="1047750" y="2686050"/>
            <a:ext cx="1657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Readable ring/line warning before attacks.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04AEF2C1-B7FE-4EF4-BBA4-16FC9356B595}"/>
              </a:ext>
            </a:extLst>
          </p:cNvPr>
          <p:cNvSpPr>
            <a:spLocks noGrp="1"/>
          </p:cNvSpPr>
          <p:nvPr/>
        </p:nvSpPr>
        <p:spPr>
          <a:xfrm>
            <a:off x="2838450" y="2857500"/>
            <a:ext cx="381000" cy="19050"/>
          </a:xfrm>
          <a:prstGeom prst="rect">
            <a:avLst/>
          </a:prstGeom>
          <a:solidFill>
            <a:srgbClr val="E8573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32DCB863-19A8-4778-90E4-FBD6B8961249}"/>
              </a:ext>
            </a:extLst>
          </p:cNvPr>
          <p:cNvSpPr>
            <a:spLocks noGrp="1"/>
          </p:cNvSpPr>
          <p:nvPr/>
        </p:nvSpPr>
        <p:spPr>
          <a:xfrm>
            <a:off x="3219450" y="2286000"/>
            <a:ext cx="1962150" cy="1162050"/>
          </a:xfrm>
          <a:prstGeom prst="rect">
            <a:avLst/>
          </a:prstGeom>
          <a:solidFill>
            <a:srgbClr val="101D1B"/>
          </a:solidFill>
          <a:ln w="11430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AB6E58B9-A444-4BA2-B8A3-D1CF680FC8E1}"/>
              </a:ext>
            </a:extLst>
          </p:cNvPr>
          <p:cNvSpPr>
            <a:spLocks noGrp="1"/>
          </p:cNvSpPr>
          <p:nvPr/>
        </p:nvSpPr>
        <p:spPr>
          <a:xfrm>
            <a:off x="3219450" y="2286000"/>
            <a:ext cx="47625" cy="11620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299B19D4-668C-45D8-B5B8-BA995C3101F3}"/>
              </a:ext>
            </a:extLst>
          </p:cNvPr>
          <p:cNvSpPr>
            <a:spLocks noGrp="1"/>
          </p:cNvSpPr>
          <p:nvPr/>
        </p:nvSpPr>
        <p:spPr>
          <a:xfrm>
            <a:off x="3390900" y="2419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Archetype Attack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FB5D2785-B44D-4362-8FCA-B3464BFDF568}"/>
              </a:ext>
            </a:extLst>
          </p:cNvPr>
          <p:cNvSpPr>
            <a:spLocks noGrp="1"/>
          </p:cNvSpPr>
          <p:nvPr/>
        </p:nvSpPr>
        <p:spPr>
          <a:xfrm>
            <a:off x="3390900" y="2686050"/>
            <a:ext cx="1657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Bulwark pressure, Phase shard, Core mine ring.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695B5A72-6021-4652-9228-9895CDCB46F6}"/>
              </a:ext>
            </a:extLst>
          </p:cNvPr>
          <p:cNvSpPr>
            <a:spLocks noGrp="1"/>
          </p:cNvSpPr>
          <p:nvPr/>
        </p:nvSpPr>
        <p:spPr>
          <a:xfrm>
            <a:off x="5181600" y="2857500"/>
            <a:ext cx="571500" cy="190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2027B95B-67B7-44BA-96F5-BCCF10562142}"/>
              </a:ext>
            </a:extLst>
          </p:cNvPr>
          <p:cNvSpPr>
            <a:spLocks noGrp="1"/>
          </p:cNvSpPr>
          <p:nvPr/>
        </p:nvSpPr>
        <p:spPr>
          <a:xfrm>
            <a:off x="5753100" y="2286000"/>
            <a:ext cx="1962150" cy="116205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BAB285C5-B195-4E21-A07B-A58894B5C81B}"/>
              </a:ext>
            </a:extLst>
          </p:cNvPr>
          <p:cNvSpPr>
            <a:spLocks noGrp="1"/>
          </p:cNvSpPr>
          <p:nvPr/>
        </p:nvSpPr>
        <p:spPr>
          <a:xfrm>
            <a:off x="5753100" y="2286000"/>
            <a:ext cx="47625" cy="11620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781D9107-015A-4B2B-801E-183335B224BE}"/>
              </a:ext>
            </a:extLst>
          </p:cNvPr>
          <p:cNvSpPr>
            <a:spLocks noGrp="1"/>
          </p:cNvSpPr>
          <p:nvPr/>
        </p:nvSpPr>
        <p:spPr>
          <a:xfrm>
            <a:off x="5924550" y="2419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Relic Reveal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FC700841-AD18-4E36-AEFA-D869DA720967}"/>
              </a:ext>
            </a:extLst>
          </p:cNvPr>
          <p:cNvSpPr>
            <a:spLocks noGrp="1"/>
          </p:cNvSpPr>
          <p:nvPr/>
        </p:nvSpPr>
        <p:spPr>
          <a:xfrm>
            <a:off x="5924550" y="2686050"/>
            <a:ext cx="1657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A short wreckage signal scene after boss death.</a:t>
            </a:r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AB515819-22D3-4BC0-90B4-6DB56EC17B9A}"/>
              </a:ext>
            </a:extLst>
          </p:cNvPr>
          <p:cNvSpPr>
            <a:spLocks noGrp="1"/>
          </p:cNvSpPr>
          <p:nvPr/>
        </p:nvSpPr>
        <p:spPr>
          <a:xfrm>
            <a:off x="7715250" y="2857500"/>
            <a:ext cx="476250" cy="190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956CFB45-50B9-4046-9C3E-2C25EF31CA45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1962150" cy="116205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BB2DCEB2-5AA8-461A-A474-4408ACB03122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47625" cy="116205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59F1A245-A104-441A-BB0D-F0D90673A497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3 Reward Choices</a:t>
            </a: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D93DBAE6-44F4-4F89-8B1C-3321995A4DD4}"/>
              </a:ext>
            </a:extLst>
          </p:cNvPr>
          <p:cNvSpPr>
            <a:spLocks noGrp="1"/>
          </p:cNvSpPr>
          <p:nvPr/>
        </p:nvSpPr>
        <p:spPr>
          <a:xfrm>
            <a:off x="8362950" y="2686050"/>
            <a:ext cx="16573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Special boss relic choices tied to the build path.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8381BEA2-4208-46B5-9057-6506B2300138}"/>
              </a:ext>
            </a:extLst>
          </p:cNvPr>
          <p:cNvSpPr>
            <a:spLocks noGrp="1"/>
          </p:cNvSpPr>
          <p:nvPr/>
        </p:nvSpPr>
        <p:spPr>
          <a:xfrm>
            <a:off x="4800600" y="4095750"/>
            <a:ext cx="5753100" cy="1257300"/>
          </a:xfrm>
          <a:prstGeom prst="rect">
            <a:avLst/>
          </a:prstGeom>
          <a:solidFill>
            <a:srgbClr val="101D1B"/>
          </a:solidFill>
          <a:ln w="9525">
            <a:solidFill>
              <a:srgbClr val="3443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803745FF-35D4-4757-9C95-E27B2A93832B}"/>
              </a:ext>
            </a:extLst>
          </p:cNvPr>
          <p:cNvSpPr>
            <a:spLocks noGrp="1"/>
          </p:cNvSpPr>
          <p:nvPr/>
        </p:nvSpPr>
        <p:spPr>
          <a:xfrm>
            <a:off x="5048250" y="4219575"/>
            <a:ext cx="2857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2DFB6"/>
                </a:solidFill>
                <a:latin typeface="Aptos"/>
                <a:ea typeface="Aptos"/>
                <a:cs typeface="Aptos"/>
              </a:rPr>
              <a:t>Why is the Boss Reward Important?</a:t>
            </a:r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AC0F978D-103E-4A27-94EB-95DC2D0A92AE}"/>
              </a:ext>
            </a:extLst>
          </p:cNvPr>
          <p:cNvSpPr>
            <a:spLocks noGrp="1"/>
          </p:cNvSpPr>
          <p:nvPr/>
        </p:nvSpPr>
        <p:spPr>
          <a:xfrm>
            <a:off x="5048250" y="4686300"/>
            <a:ext cx="5010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Normal level-ups power up the player; boss relics change the identity of the run. Therefore, the boss is not just a high-HP enemy, but a threshold that defines build direction.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DED025F7-6230-423F-B398-5BD47D5D4915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boss-system, boss-ui, relic-reveal, relic-system, and relic-synergy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D2663F47-E077-4F06-BAA2-3765A10D5A65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288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ikdörtgen 52">
            <a:extLst>
              <a:ext uri="{FF2B5EF4-FFF2-40B4-BE49-F238E27FC236}">
                <a16:creationId xmlns:a16="http://schemas.microsoft.com/office/drawing/2014/main" id="{70435336-24D9-43E0-AD26-741FFD9D4A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2F673AB5-0F0B-4197-A984-BFB6D8546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0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3F6C1C-2FAC-4C5D-B697-F9D856DB7321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EACE2C-27AB-4D7C-A0A3-86B7565E83C8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F4FE954-E4ED-4B12-A969-8BBD7F5D61B7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2A2664-9822-48FA-9682-C4C7DBB3953E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E2D6E0-7EAD-4F74-9FC8-665424342E3B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8A81F0-3D68-4C78-97AC-FE89F3CAC17B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3122CF-3D58-4844-A93E-B8F015532266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EE54FB-72A1-4379-BAFA-562C7A36E5C3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2A1BDB-10BB-489F-B5CD-0A378EC076CE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9C92D03-4854-474C-9657-C57253FF899B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D6BAC4-2179-4036-BAB7-3B75DA6EB120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69F20B-4471-4513-92F0-5EF5B28A8192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085218-D69F-4BC4-8FFE-3ED72521D243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D0D0A9-B3AD-42ED-92E8-DDE15A9CAA3F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D9450A5-36C5-4DDE-9306-5A2E4F36538C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1B7FF3-6D83-459A-B97F-14B54DCB9724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D7FD4B5-DE17-4187-8663-A1854984D58C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711986F-5204-4202-A957-D80AB31DD7D5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720D31-8E7F-4383-96E4-BF5530984233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E40258D-B271-4B1A-92FE-D510ECCAA124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E8DFC4-7232-4357-BE72-186A878B6FE1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143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3F381E-CD4A-4869-AEC8-BFCB03345AE8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F61C814B-FD51-49C4-BCBA-FA8873C68E4F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8-marker">
            <a:extLst>
              <a:ext uri="{FF2B5EF4-FFF2-40B4-BE49-F238E27FC236}">
                <a16:creationId xmlns:a16="http://schemas.microsoft.com/office/drawing/2014/main" id="{7F3A221D-6E53-4013-B45F-923956E347F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8-label">
            <a:extLst>
              <a:ext uri="{FF2B5EF4-FFF2-40B4-BE49-F238E27FC236}">
                <a16:creationId xmlns:a16="http://schemas.microsoft.com/office/drawing/2014/main" id="{7E84016A-14D6-4866-9137-8C0E65F1C3D5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COMBAT UX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DABCECDD-2901-40E1-BF15-C79F8B335D34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interface displays subsequent action without obscuring the combat.</a:t>
            </a:r>
          </a:p>
        </p:txBody>
      </p:sp>
      <p:pic>
        <p:nvPicPr>
          <p:cNvPr id="29" name="Resim 28"/>
          <p:cNvPicPr>
            <a:picLocks noChangeAspect="1"/>
          </p:cNvPicPr>
          <p:nvPr/>
        </p:nvPicPr>
        <p:blipFill>
          <a:blip r:embed="rId3"/>
          <a:srcRect t="3309" b="3309"/>
          <a:stretch>
            <a:fillRect/>
          </a:stretch>
        </p:blipFill>
        <p:spPr>
          <a:xfrm>
            <a:off x="685800" y="1866900"/>
            <a:ext cx="4324350" cy="2571750"/>
          </a:xfrm>
          <a:prstGeom prst="rect">
            <a:avLst/>
          </a:prstGeom>
        </p:spPr>
      </p:pic>
      <p:sp>
        <p:nvSpPr>
          <p:cNvPr id="30" name="Dikdörtgen 29">
            <a:extLst>
              <a:ext uri="{FF2B5EF4-FFF2-40B4-BE49-F238E27FC236}">
                <a16:creationId xmlns:a16="http://schemas.microsoft.com/office/drawing/2014/main" id="{6D432682-2DCE-4D4A-9702-BF38B50013C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324350" cy="257175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6A6FAA94-CED4-404E-9DB1-C1B329B6A375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305050" cy="2667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641931F4-1797-44AD-B81F-18327AD7441E}"/>
              </a:ext>
            </a:extLst>
          </p:cNvPr>
          <p:cNvSpPr>
            <a:spLocks noGrp="1"/>
          </p:cNvSpPr>
          <p:nvPr/>
        </p:nvSpPr>
        <p:spPr>
          <a:xfrm>
            <a:off x="5638800" y="1828800"/>
            <a:ext cx="4800600" cy="742950"/>
          </a:xfrm>
          <a:prstGeom prst="rect">
            <a:avLst/>
          </a:prstGeom>
          <a:solidFill>
            <a:srgbClr val="101D1B"/>
          </a:solidFill>
          <a:ln w="14288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8E7AE70-9A21-4E0C-8656-3CE7B0EC02C4}"/>
              </a:ext>
            </a:extLst>
          </p:cNvPr>
          <p:cNvSpPr>
            <a:spLocks noGrp="1"/>
          </p:cNvSpPr>
          <p:nvPr/>
        </p:nvSpPr>
        <p:spPr>
          <a:xfrm>
            <a:off x="5905500" y="1971675"/>
            <a:ext cx="40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rPr>
              <a:t>E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D444AFEB-9A1E-4D3C-9FC5-1DBBF340F4AA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2DFB6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F2DFB6"/>
                </a:solidFill>
                <a:latin typeface="Aptos Mono"/>
                <a:ea typeface="Aptos Mono"/>
                <a:cs typeface="Aptos Mono"/>
              </a:rPr>
              <a:t>NOVA READY</a:t>
            </a:r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8A4E0D14-B1E1-4A94-B515-5A2E972DB4B1}"/>
              </a:ext>
            </a:extLst>
          </p:cNvPr>
          <p:cNvSpPr>
            <a:spLocks noGrp="1"/>
          </p:cNvSpPr>
          <p:nvPr/>
        </p:nvSpPr>
        <p:spPr>
          <a:xfrm>
            <a:off x="6477000" y="22669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Key command appears on screen when Overdrive is ready.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61998508-F75B-4F3F-B3DC-B19C37F19E33}"/>
              </a:ext>
            </a:extLst>
          </p:cNvPr>
          <p:cNvSpPr>
            <a:spLocks noGrp="1"/>
          </p:cNvSpPr>
          <p:nvPr/>
        </p:nvSpPr>
        <p:spPr>
          <a:xfrm>
            <a:off x="5638800" y="2895600"/>
            <a:ext cx="4800600" cy="742950"/>
          </a:xfrm>
          <a:prstGeom prst="rect">
            <a:avLst/>
          </a:prstGeom>
          <a:solidFill>
            <a:srgbClr val="101D1B"/>
          </a:solidFill>
          <a:ln w="14288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8019C41-2BF7-4211-B16A-F98631180534}"/>
              </a:ext>
            </a:extLst>
          </p:cNvPr>
          <p:cNvSpPr>
            <a:spLocks noGrp="1"/>
          </p:cNvSpPr>
          <p:nvPr/>
        </p:nvSpPr>
        <p:spPr>
          <a:xfrm>
            <a:off x="5924550" y="3105150"/>
            <a:ext cx="266700" cy="266700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F3578972-235F-4D72-9A8C-68F608D40F9E}"/>
              </a:ext>
            </a:extLst>
          </p:cNvPr>
          <p:cNvSpPr>
            <a:spLocks noGrp="1"/>
          </p:cNvSpPr>
          <p:nvPr/>
        </p:nvSpPr>
        <p:spPr>
          <a:xfrm>
            <a:off x="6438900" y="3048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Signal objective →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658D8F30-8707-4755-A901-8B667F9C48E9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3390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Does not get lost, thanks to the off-screen objective edge indicator.</a:t>
            </a:r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F49825F8-94F0-48E7-B98A-F8852A350C02}"/>
              </a:ext>
            </a:extLst>
          </p:cNvPr>
          <p:cNvSpPr>
            <a:spLocks noGrp="1"/>
          </p:cNvSpPr>
          <p:nvPr/>
        </p:nvSpPr>
        <p:spPr>
          <a:xfrm>
            <a:off x="5638800" y="3962400"/>
            <a:ext cx="4800600" cy="742950"/>
          </a:xfrm>
          <a:prstGeom prst="rect">
            <a:avLst/>
          </a:prstGeom>
          <a:solidFill>
            <a:srgbClr val="101D1B"/>
          </a:solidFill>
          <a:ln w="14288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728CCCFF-B170-4BF3-AE0B-E97CB68C5402}"/>
              </a:ext>
            </a:extLst>
          </p:cNvPr>
          <p:cNvSpPr>
            <a:spLocks noGrp="1"/>
          </p:cNvSpPr>
          <p:nvPr/>
        </p:nvSpPr>
        <p:spPr>
          <a:xfrm>
            <a:off x="5905500" y="41719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2D6BD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2D6BD"/>
                </a:solidFill>
                <a:latin typeface="Aptos Mono"/>
                <a:ea typeface="Aptos Mono"/>
                <a:cs typeface="Aptos Mono"/>
              </a:rPr>
              <a:t>+4 XP / Overdrive +18</a:t>
            </a: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8EC2DA07-B1B1-40D7-9530-B7D35E16E241}"/>
              </a:ext>
            </a:extLst>
          </p:cNvPr>
          <p:cNvSpPr>
            <a:spLocks noGrp="1"/>
          </p:cNvSpPr>
          <p:nvPr/>
        </p:nvSpPr>
        <p:spPr>
          <a:xfrm>
            <a:off x="5905500" y="44577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Brief reward notifications make progression visible.</a:t>
            </a: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7C9A00E4-446C-4615-88F8-2336946A60FF}"/>
              </a:ext>
            </a:extLst>
          </p:cNvPr>
          <p:cNvSpPr>
            <a:spLocks noGrp="1"/>
          </p:cNvSpPr>
          <p:nvPr/>
        </p:nvSpPr>
        <p:spPr>
          <a:xfrm>
            <a:off x="1200150" y="4819650"/>
            <a:ext cx="314325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3781D4EA-177B-4F78-BD99-3B6588C87047}"/>
              </a:ext>
            </a:extLst>
          </p:cNvPr>
          <p:cNvSpPr>
            <a:spLocks noGrp="1"/>
          </p:cNvSpPr>
          <p:nvPr/>
        </p:nvSpPr>
        <p:spPr>
          <a:xfrm>
            <a:off x="1200150" y="4819650"/>
            <a:ext cx="38100" cy="85725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BC95EF2D-F1AC-4D8D-97E5-4BBD39AA61DA}"/>
              </a:ext>
            </a:extLst>
          </p:cNvPr>
          <p:cNvSpPr>
            <a:spLocks noGrp="1"/>
          </p:cNvSpPr>
          <p:nvPr/>
        </p:nvSpPr>
        <p:spPr>
          <a:xfrm>
            <a:off x="1371600" y="49530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Stat Panel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A0DA9BD7-1D3B-400C-B172-32E80DD21D26}"/>
              </a:ext>
            </a:extLst>
          </p:cNvPr>
          <p:cNvSpPr>
            <a:spLocks noGrp="1"/>
          </p:cNvSpPr>
          <p:nvPr/>
        </p:nvSpPr>
        <p:spPr>
          <a:xfrm>
            <a:off x="1371600" y="520065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Can be toggled; keeps the battlefield cleaner.</a:t>
            </a:r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D4842731-7D5A-4B86-9EED-048A6C8AC8B6}"/>
              </a:ext>
            </a:extLst>
          </p:cNvPr>
          <p:cNvSpPr>
            <a:spLocks noGrp="1"/>
          </p:cNvSpPr>
          <p:nvPr/>
        </p:nvSpPr>
        <p:spPr>
          <a:xfrm>
            <a:off x="4629150" y="4819650"/>
            <a:ext cx="3143250" cy="8572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A5D312DC-57E4-4B5C-A81B-788792F42DD9}"/>
              </a:ext>
            </a:extLst>
          </p:cNvPr>
          <p:cNvSpPr>
            <a:spLocks noGrp="1"/>
          </p:cNvSpPr>
          <p:nvPr/>
        </p:nvSpPr>
        <p:spPr>
          <a:xfrm>
            <a:off x="4629150" y="4819650"/>
            <a:ext cx="38100" cy="857250"/>
          </a:xfrm>
          <a:prstGeom prst="rect">
            <a:avLst/>
          </a:prstGeom>
          <a:solidFill>
            <a:srgbClr val="A58C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BB5BBD66-944C-4162-9FF5-819004B2C955}"/>
              </a:ext>
            </a:extLst>
          </p:cNvPr>
          <p:cNvSpPr>
            <a:spLocks noGrp="1"/>
          </p:cNvSpPr>
          <p:nvPr/>
        </p:nvSpPr>
        <p:spPr>
          <a:xfrm>
            <a:off x="4800600" y="4953000"/>
            <a:ext cx="281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Mobile OD</a:t>
            </a:r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4C6F7AC1-E44A-4798-B4D8-53C881F05EE3}"/>
              </a:ext>
            </a:extLst>
          </p:cNvPr>
          <p:cNvSpPr>
            <a:spLocks noGrp="1"/>
          </p:cNvSpPr>
          <p:nvPr/>
        </p:nvSpPr>
        <p:spPr>
          <a:xfrm>
            <a:off x="4800600" y="5200650"/>
            <a:ext cx="281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Overdrive button ready for touch players.</a:t>
            </a:r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E0287149-16A3-47F0-8764-A75D93027E8C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combat-ux, controls, stat-system, and ui</a:t>
            </a:r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4DEEC617-5875-4A0D-8B6A-EEF05EDD20B0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254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Dikdörtgen 72">
            <a:extLst>
              <a:ext uri="{FF2B5EF4-FFF2-40B4-BE49-F238E27FC236}">
                <a16:creationId xmlns:a16="http://schemas.microsoft.com/office/drawing/2014/main" id="{7B495196-4A00-4E81-9505-8CC0D9C3D6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1E9D1E25-B613-42C7-A646-E7632136D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F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295E093-4C21-4B48-B3FD-76902803A228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CF9514F-466E-4BC3-812E-2803C303A70B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710A23-BD29-4E4B-8356-69275E686A71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1D5856-973A-490E-B5DE-070953B088D1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CFE610-94EA-4B38-ADC6-7CEBCDED6822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B29512-FDF1-4AD0-8422-8B5B62F6BD7A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1AC7AE-31CC-4C89-B082-DD6FCC63858C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819291-095F-44FC-994F-FF414909FA6D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BFFC9A-108E-4AF9-BBE9-2EF95EB49039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4E6FD1-9D44-482F-88DE-6F758CAB8358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9C2331-361C-4C97-BF0C-D3FD4C51F176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D1939-644C-4824-9199-160A6F843914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2355C2-705F-4980-8ACC-D590BFC78EEF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616136-3988-4008-B7D1-E011EA8FA317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AE9910-028E-4B42-9930-71A8F28C1553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EBFEF0-119F-4736-BA00-45F7562C14BB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B2C17A-C94B-419A-BC81-88A142489AEA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A525ED-6597-4B50-B62F-621D0407E31D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5959BF-D152-473A-835D-1A593B60C306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4AA277-63BB-4012-80C5-BFD2FF049FB3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FFF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7E5B25-65E8-4BEA-957A-DC981490B846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2D21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A050F1-2392-4394-B0F0-19BC422EB9DE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2118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33F32F30-2A39-4508-B3D3-B5C7CA7D2253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9-marker">
            <a:extLst>
              <a:ext uri="{FF2B5EF4-FFF2-40B4-BE49-F238E27FC236}">
                <a16:creationId xmlns:a16="http://schemas.microsoft.com/office/drawing/2014/main" id="{ABDF3E24-D401-4EEE-A273-157CF934DB6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9-label">
            <a:extLst>
              <a:ext uri="{FF2B5EF4-FFF2-40B4-BE49-F238E27FC236}">
                <a16:creationId xmlns:a16="http://schemas.microsoft.com/office/drawing/2014/main" id="{86810DB2-2ABB-473C-89AF-D5D8F94D3AD8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PROOF OF DEVELOPMENT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85CCFEE7-9210-4474-AD33-6BF723B90F29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prototype grew fast, but every step was wrapped up with validation.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90283B64-6FDB-41DE-B355-1751AA4BFEF8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1143000" cy="762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FC5C9355-F3E2-4536-BC7E-765A815FD7FF}"/>
              </a:ext>
            </a:extLst>
          </p:cNvPr>
          <p:cNvSpPr>
            <a:spLocks noGrp="1"/>
          </p:cNvSpPr>
          <p:nvPr/>
        </p:nvSpPr>
        <p:spPr>
          <a:xfrm>
            <a:off x="2190750" y="3457575"/>
            <a:ext cx="533400" cy="19050"/>
          </a:xfrm>
          <a:prstGeom prst="rect">
            <a:avLst/>
          </a:prstGeom>
          <a:solidFill>
            <a:srgbClr val="385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720CD4D7-995B-446E-8993-0F208D806040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05036450-A9D8-4183-9CEC-56E08662980E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Arcade Core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E0EF9EEB-1408-4501-9362-1D1056942BC1}"/>
              </a:ext>
            </a:extLst>
          </p:cNvPr>
          <p:cNvSpPr>
            <a:spLocks noGrp="1"/>
          </p:cNvSpPr>
          <p:nvPr/>
        </p:nvSpPr>
        <p:spPr>
          <a:xfrm>
            <a:off x="10858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canvas, movement, fire, waves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1884B9F4-533C-4BE9-B030-E6AFAB8DC039}"/>
              </a:ext>
            </a:extLst>
          </p:cNvPr>
          <p:cNvSpPr>
            <a:spLocks noGrp="1"/>
          </p:cNvSpPr>
          <p:nvPr/>
        </p:nvSpPr>
        <p:spPr>
          <a:xfrm>
            <a:off x="2724150" y="3429000"/>
            <a:ext cx="1143000" cy="762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24035687-1C91-48FF-B8B0-57ED90187567}"/>
              </a:ext>
            </a:extLst>
          </p:cNvPr>
          <p:cNvSpPr>
            <a:spLocks noGrp="1"/>
          </p:cNvSpPr>
          <p:nvPr/>
        </p:nvSpPr>
        <p:spPr>
          <a:xfrm>
            <a:off x="3867150" y="3457575"/>
            <a:ext cx="533400" cy="19050"/>
          </a:xfrm>
          <a:prstGeom prst="rect">
            <a:avLst/>
          </a:prstGeom>
          <a:solidFill>
            <a:srgbClr val="385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D9305F8-76B3-4C6C-9FAE-8D41BC62EDB2}"/>
              </a:ext>
            </a:extLst>
          </p:cNvPr>
          <p:cNvSpPr>
            <a:spLocks noGrp="1"/>
          </p:cNvSpPr>
          <p:nvPr/>
        </p:nvSpPr>
        <p:spPr>
          <a:xfrm>
            <a:off x="26289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A18E9D37-379D-44EA-97E2-D70A4B85358B}"/>
              </a:ext>
            </a:extLst>
          </p:cNvPr>
          <p:cNvSpPr>
            <a:spLocks noGrp="1"/>
          </p:cNvSpPr>
          <p:nvPr/>
        </p:nvSpPr>
        <p:spPr>
          <a:xfrm>
            <a:off x="27622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Survival Transformation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868C9403-EC3A-4DBD-BBE6-C40362DC0483}"/>
              </a:ext>
            </a:extLst>
          </p:cNvPr>
          <p:cNvSpPr>
            <a:spLocks noGrp="1"/>
          </p:cNvSpPr>
          <p:nvPr/>
        </p:nvSpPr>
        <p:spPr>
          <a:xfrm>
            <a:off x="27622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XP, level-up, auto-fire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932713C6-AA88-466C-A0C0-D93CB9D31506}"/>
              </a:ext>
            </a:extLst>
          </p:cNvPr>
          <p:cNvSpPr>
            <a:spLocks noGrp="1"/>
          </p:cNvSpPr>
          <p:nvPr/>
        </p:nvSpPr>
        <p:spPr>
          <a:xfrm>
            <a:off x="4400550" y="3429000"/>
            <a:ext cx="1143000" cy="762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00A02AC9-F93C-4905-8DFE-EB356532239A}"/>
              </a:ext>
            </a:extLst>
          </p:cNvPr>
          <p:cNvSpPr>
            <a:spLocks noGrp="1"/>
          </p:cNvSpPr>
          <p:nvPr/>
        </p:nvSpPr>
        <p:spPr>
          <a:xfrm>
            <a:off x="5543550" y="3457575"/>
            <a:ext cx="533400" cy="19050"/>
          </a:xfrm>
          <a:prstGeom prst="rect">
            <a:avLst/>
          </a:prstGeom>
          <a:solidFill>
            <a:srgbClr val="385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1BA37910-21F8-46F3-9253-EB2FF91617DD}"/>
              </a:ext>
            </a:extLst>
          </p:cNvPr>
          <p:cNvSpPr>
            <a:spLocks noGrp="1"/>
          </p:cNvSpPr>
          <p:nvPr/>
        </p:nvSpPr>
        <p:spPr>
          <a:xfrm>
            <a:off x="43053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36F9466-2D27-4236-A637-1DAF24C5FDAD}"/>
              </a:ext>
            </a:extLst>
          </p:cNvPr>
          <p:cNvSpPr>
            <a:spLocks noGrp="1"/>
          </p:cNvSpPr>
          <p:nvPr/>
        </p:nvSpPr>
        <p:spPr>
          <a:xfrm>
            <a:off x="44386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Ship + Map</a:t>
            </a: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B6ADB912-2660-4D26-8C2E-8CF0FCF8526F}"/>
              </a:ext>
            </a:extLst>
          </p:cNvPr>
          <p:cNvSpPr>
            <a:spLocks noGrp="1"/>
          </p:cNvSpPr>
          <p:nvPr/>
        </p:nvSpPr>
        <p:spPr>
          <a:xfrm>
            <a:off x="44386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heavy fighter, wide world, camera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C6B246FB-E5EF-48EB-841C-D2422EA1888C}"/>
              </a:ext>
            </a:extLst>
          </p:cNvPr>
          <p:cNvSpPr>
            <a:spLocks noGrp="1"/>
          </p:cNvSpPr>
          <p:nvPr/>
        </p:nvSpPr>
        <p:spPr>
          <a:xfrm>
            <a:off x="6076950" y="3429000"/>
            <a:ext cx="1143000" cy="762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546FD663-BCB2-4436-BBA8-64A8877B137C}"/>
              </a:ext>
            </a:extLst>
          </p:cNvPr>
          <p:cNvSpPr>
            <a:spLocks noGrp="1"/>
          </p:cNvSpPr>
          <p:nvPr/>
        </p:nvSpPr>
        <p:spPr>
          <a:xfrm>
            <a:off x="7219950" y="3457575"/>
            <a:ext cx="533400" cy="19050"/>
          </a:xfrm>
          <a:prstGeom prst="rect">
            <a:avLst/>
          </a:prstGeom>
          <a:solidFill>
            <a:srgbClr val="385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F45D848D-C94A-460A-86B5-91342C80CA76}"/>
              </a:ext>
            </a:extLst>
          </p:cNvPr>
          <p:cNvSpPr>
            <a:spLocks noGrp="1"/>
          </p:cNvSpPr>
          <p:nvPr/>
        </p:nvSpPr>
        <p:spPr>
          <a:xfrm>
            <a:off x="59817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2579251D-9537-4814-8E5F-48B8C5509DC0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Enemy System</a:t>
            </a: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2BA62E02-DA43-4B0B-A290-8BF177159A30}"/>
              </a:ext>
            </a:extLst>
          </p:cNvPr>
          <p:cNvSpPr>
            <a:spLocks noGrp="1"/>
          </p:cNvSpPr>
          <p:nvPr/>
        </p:nvSpPr>
        <p:spPr>
          <a:xfrm>
            <a:off x="61150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roles, formation, captain aura</a:t>
            </a: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A556B2FD-1E52-4BD0-BBD6-99B54743094F}"/>
              </a:ext>
            </a:extLst>
          </p:cNvPr>
          <p:cNvSpPr>
            <a:spLocks noGrp="1"/>
          </p:cNvSpPr>
          <p:nvPr/>
        </p:nvSpPr>
        <p:spPr>
          <a:xfrm>
            <a:off x="7753350" y="3429000"/>
            <a:ext cx="1143000" cy="762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C174B3EA-AFF9-44F6-94AD-2E22DBEB685F}"/>
              </a:ext>
            </a:extLst>
          </p:cNvPr>
          <p:cNvSpPr>
            <a:spLocks noGrp="1"/>
          </p:cNvSpPr>
          <p:nvPr/>
        </p:nvSpPr>
        <p:spPr>
          <a:xfrm>
            <a:off x="8896350" y="3457575"/>
            <a:ext cx="533400" cy="19050"/>
          </a:xfrm>
          <a:prstGeom prst="rect">
            <a:avLst/>
          </a:prstGeom>
          <a:solidFill>
            <a:srgbClr val="3852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4BAD7735-AD9C-4781-913C-78028EE6498D}"/>
              </a:ext>
            </a:extLst>
          </p:cNvPr>
          <p:cNvSpPr>
            <a:spLocks noGrp="1"/>
          </p:cNvSpPr>
          <p:nvPr/>
        </p:nvSpPr>
        <p:spPr>
          <a:xfrm>
            <a:off x="76581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7013D06A-5C73-4411-A630-E5D725B68575}"/>
              </a:ext>
            </a:extLst>
          </p:cNvPr>
          <p:cNvSpPr>
            <a:spLocks noGrp="1"/>
          </p:cNvSpPr>
          <p:nvPr/>
        </p:nvSpPr>
        <p:spPr>
          <a:xfrm>
            <a:off x="77914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Boss Layer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85A7C003-CCE6-4227-A6E8-35CC33A0DF1E}"/>
              </a:ext>
            </a:extLst>
          </p:cNvPr>
          <p:cNvSpPr>
            <a:spLocks noGrp="1"/>
          </p:cNvSpPr>
          <p:nvPr/>
        </p:nvSpPr>
        <p:spPr>
          <a:xfrm>
            <a:off x="77914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telegraph, HUD, reveal, relic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92848267-11D1-4CFE-B0C4-665F75F3359D}"/>
              </a:ext>
            </a:extLst>
          </p:cNvPr>
          <p:cNvSpPr>
            <a:spLocks noGrp="1"/>
          </p:cNvSpPr>
          <p:nvPr/>
        </p:nvSpPr>
        <p:spPr>
          <a:xfrm>
            <a:off x="9429750" y="3429000"/>
            <a:ext cx="1143000" cy="76200"/>
          </a:xfrm>
          <a:prstGeom prst="rect">
            <a:avLst/>
          </a:prstGeom>
          <a:solidFill>
            <a:srgbClr val="F0B84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568F09D5-90C0-4C70-B950-8F70D01686B6}"/>
              </a:ext>
            </a:extLst>
          </p:cNvPr>
          <p:cNvSpPr>
            <a:spLocks noGrp="1"/>
          </p:cNvSpPr>
          <p:nvPr/>
        </p:nvSpPr>
        <p:spPr>
          <a:xfrm>
            <a:off x="9334500" y="2495550"/>
            <a:ext cx="1390650" cy="7810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32E6279A-4057-48CB-8704-C800E1C4BD8E}"/>
              </a:ext>
            </a:extLst>
          </p:cNvPr>
          <p:cNvSpPr>
            <a:spLocks noGrp="1"/>
          </p:cNvSpPr>
          <p:nvPr/>
        </p:nvSpPr>
        <p:spPr>
          <a:xfrm>
            <a:off x="9467850" y="264795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UX Clarity</a:t>
            </a:r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3D98BCBA-C52F-4C83-86A7-B22885BDB30B}"/>
              </a:ext>
            </a:extLst>
          </p:cNvPr>
          <p:cNvSpPr>
            <a:spLocks noGrp="1"/>
          </p:cNvSpPr>
          <p:nvPr/>
        </p:nvSpPr>
        <p:spPr>
          <a:xfrm>
            <a:off x="9467850" y="293370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overdrive prompt, objective pointer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9C6A67FE-B3D8-4391-A092-1CA6B5477827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18097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6FDB8737-9B8F-403E-8800-57AB3580164C}"/>
              </a:ext>
            </a:extLst>
          </p:cNvPr>
          <p:cNvSpPr>
            <a:spLocks noGrp="1"/>
          </p:cNvSpPr>
          <p:nvPr/>
        </p:nvSpPr>
        <p:spPr>
          <a:xfrm>
            <a:off x="1600200" y="4819650"/>
            <a:ext cx="1466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92/92</a:t>
            </a:r>
          </a:p>
        </p:txBody>
      </p:sp>
      <p:sp>
        <p:nvSpPr>
          <p:cNvPr id="60" name="Dikdörtgen 59">
            <a:extLst>
              <a:ext uri="{FF2B5EF4-FFF2-40B4-BE49-F238E27FC236}">
                <a16:creationId xmlns:a16="http://schemas.microsoft.com/office/drawing/2014/main" id="{D6DC6DC4-9D3A-47A3-9B13-88C7A587CF34}"/>
              </a:ext>
            </a:extLst>
          </p:cNvPr>
          <p:cNvSpPr>
            <a:spLocks noGrp="1"/>
          </p:cNvSpPr>
          <p:nvPr/>
        </p:nvSpPr>
        <p:spPr>
          <a:xfrm>
            <a:off x="1600200" y="5162550"/>
            <a:ext cx="1466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pure Node tests passed</a:t>
            </a:r>
          </a:p>
        </p:txBody>
      </p:sp>
      <p:sp>
        <p:nvSpPr>
          <p:cNvPr id="61" name="Dikdörtgen 60">
            <a:extLst>
              <a:ext uri="{FF2B5EF4-FFF2-40B4-BE49-F238E27FC236}">
                <a16:creationId xmlns:a16="http://schemas.microsoft.com/office/drawing/2014/main" id="{4FB8E4C6-E453-43B8-BA4D-656188BCC626}"/>
              </a:ext>
            </a:extLst>
          </p:cNvPr>
          <p:cNvSpPr>
            <a:spLocks noGrp="1"/>
          </p:cNvSpPr>
          <p:nvPr/>
        </p:nvSpPr>
        <p:spPr>
          <a:xfrm>
            <a:off x="3562350" y="4686300"/>
            <a:ext cx="20764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Dikdörtgen 61">
            <a:extLst>
              <a:ext uri="{FF2B5EF4-FFF2-40B4-BE49-F238E27FC236}">
                <a16:creationId xmlns:a16="http://schemas.microsoft.com/office/drawing/2014/main" id="{FA397BE5-E1A7-4E92-A078-648FFA3C5A02}"/>
              </a:ext>
            </a:extLst>
          </p:cNvPr>
          <p:cNvSpPr>
            <a:spLocks noGrp="1"/>
          </p:cNvSpPr>
          <p:nvPr/>
        </p:nvSpPr>
        <p:spPr>
          <a:xfrm>
            <a:off x="3733800" y="48196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rPr>
              <a:t>node --check</a:t>
            </a:r>
          </a:p>
        </p:txBody>
      </p:sp>
      <p:sp>
        <p:nvSpPr>
          <p:cNvPr id="63" name="Dikdörtgen 62">
            <a:extLst>
              <a:ext uri="{FF2B5EF4-FFF2-40B4-BE49-F238E27FC236}">
                <a16:creationId xmlns:a16="http://schemas.microsoft.com/office/drawing/2014/main" id="{AA5732CC-D8F5-452E-BE01-8DC044B669A5}"/>
              </a:ext>
            </a:extLst>
          </p:cNvPr>
          <p:cNvSpPr>
            <a:spLocks noGrp="1"/>
          </p:cNvSpPr>
          <p:nvPr/>
        </p:nvSpPr>
        <p:spPr>
          <a:xfrm>
            <a:off x="3733800" y="5162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JS syntax clean</a:t>
            </a:r>
          </a:p>
        </p:txBody>
      </p:sp>
      <p:sp>
        <p:nvSpPr>
          <p:cNvPr id="64" name="Dikdörtgen 63">
            <a:extLst>
              <a:ext uri="{FF2B5EF4-FFF2-40B4-BE49-F238E27FC236}">
                <a16:creationId xmlns:a16="http://schemas.microsoft.com/office/drawing/2014/main" id="{0EB0CF9E-3697-4946-93A8-FD235D55D880}"/>
              </a:ext>
            </a:extLst>
          </p:cNvPr>
          <p:cNvSpPr>
            <a:spLocks noGrp="1"/>
          </p:cNvSpPr>
          <p:nvPr/>
        </p:nvSpPr>
        <p:spPr>
          <a:xfrm>
            <a:off x="5962650" y="4686300"/>
            <a:ext cx="20764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Dikdörtgen 64">
            <a:extLst>
              <a:ext uri="{FF2B5EF4-FFF2-40B4-BE49-F238E27FC236}">
                <a16:creationId xmlns:a16="http://schemas.microsoft.com/office/drawing/2014/main" id="{273B8530-D307-4073-88B2-E8ABEE6A9EB5}"/>
              </a:ext>
            </a:extLst>
          </p:cNvPr>
          <p:cNvSpPr>
            <a:spLocks noGrp="1"/>
          </p:cNvSpPr>
          <p:nvPr/>
        </p:nvSpPr>
        <p:spPr>
          <a:xfrm>
            <a:off x="6134100" y="4819650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66" name="Dikdörtgen 65">
            <a:extLst>
              <a:ext uri="{FF2B5EF4-FFF2-40B4-BE49-F238E27FC236}">
                <a16:creationId xmlns:a16="http://schemas.microsoft.com/office/drawing/2014/main" id="{A7951344-9125-4148-AEDD-613E5A7BB0EB}"/>
              </a:ext>
            </a:extLst>
          </p:cNvPr>
          <p:cNvSpPr>
            <a:spLocks noGrp="1"/>
          </p:cNvSpPr>
          <p:nvPr/>
        </p:nvSpPr>
        <p:spPr>
          <a:xfrm>
            <a:off x="6134100" y="51625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unsafe DOM/API scan</a:t>
            </a:r>
          </a:p>
        </p:txBody>
      </p:sp>
      <p:sp>
        <p:nvSpPr>
          <p:cNvPr id="67" name="Dikdörtgen 66">
            <a:extLst>
              <a:ext uri="{FF2B5EF4-FFF2-40B4-BE49-F238E27FC236}">
                <a16:creationId xmlns:a16="http://schemas.microsoft.com/office/drawing/2014/main" id="{FB90D0BA-D152-4D0B-AAB7-D0CCB7EC679F}"/>
              </a:ext>
            </a:extLst>
          </p:cNvPr>
          <p:cNvSpPr>
            <a:spLocks noGrp="1"/>
          </p:cNvSpPr>
          <p:nvPr/>
        </p:nvSpPr>
        <p:spPr>
          <a:xfrm>
            <a:off x="8362950" y="4686300"/>
            <a:ext cx="1924050" cy="8191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8BE90329-AD47-4CB6-8E47-6DD56DE1631C}"/>
              </a:ext>
            </a:extLst>
          </p:cNvPr>
          <p:cNvSpPr>
            <a:spLocks noGrp="1"/>
          </p:cNvSpPr>
          <p:nvPr/>
        </p:nvSpPr>
        <p:spPr>
          <a:xfrm>
            <a:off x="8534400" y="4819650"/>
            <a:ext cx="1581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rPr>
              <a:t>diff check</a:t>
            </a:r>
          </a:p>
        </p:txBody>
      </p:sp>
      <p:sp>
        <p:nvSpPr>
          <p:cNvPr id="69" name="Dikdörtgen 68">
            <a:extLst>
              <a:ext uri="{FF2B5EF4-FFF2-40B4-BE49-F238E27FC236}">
                <a16:creationId xmlns:a16="http://schemas.microsoft.com/office/drawing/2014/main" id="{997309C1-360F-45C7-AD3A-64DE2966D166}"/>
              </a:ext>
            </a:extLst>
          </p:cNvPr>
          <p:cNvSpPr>
            <a:spLocks noGrp="1"/>
          </p:cNvSpPr>
          <p:nvPr/>
        </p:nvSpPr>
        <p:spPr>
          <a:xfrm>
            <a:off x="8534400" y="5162550"/>
            <a:ext cx="1581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only CRLF warning</a:t>
            </a:r>
          </a:p>
        </p:txBody>
      </p:sp>
      <p:sp>
        <p:nvSpPr>
          <p:cNvPr id="70" name="Dikdörtgen 69">
            <a:extLst>
              <a:ext uri="{FF2B5EF4-FFF2-40B4-BE49-F238E27FC236}">
                <a16:creationId xmlns:a16="http://schemas.microsoft.com/office/drawing/2014/main" id="{EE381310-E2E4-497A-9011-8E9C4ED403D8}"/>
              </a:ext>
            </a:extLst>
          </p:cNvPr>
          <p:cNvSpPr>
            <a:spLocks noGrp="1"/>
          </p:cNvSpPr>
          <p:nvPr/>
        </p:nvSpPr>
        <p:spPr>
          <a:xfrm>
            <a:off x="1314450" y="1790700"/>
            <a:ext cx="8763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This rhythm is also crucial for the presentation: the described mechanics are not just ideas, but systems running and tested in the repository.</a:t>
            </a:r>
          </a:p>
        </p:txBody>
      </p:sp>
      <p:sp>
        <p:nvSpPr>
          <p:cNvPr id="71" name="Dikdörtgen 70">
            <a:extLst>
              <a:ext uri="{FF2B5EF4-FFF2-40B4-BE49-F238E27FC236}">
                <a16:creationId xmlns:a16="http://schemas.microsoft.com/office/drawing/2014/main" id="{F2FA0FD1-14D9-47F7-B1AC-14919D0C0947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tasks/todo.md last verification records</a:t>
            </a:r>
          </a:p>
        </p:txBody>
      </p:sp>
      <p:sp>
        <p:nvSpPr>
          <p:cNvPr id="72" name="Dikdörtgen 71">
            <a:extLst>
              <a:ext uri="{FF2B5EF4-FFF2-40B4-BE49-F238E27FC236}">
                <a16:creationId xmlns:a16="http://schemas.microsoft.com/office/drawing/2014/main" id="{8B74A44C-960E-437E-8A05-5423211B7487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2039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ikdörtgen 59">
            <a:extLst>
              <a:ext uri="{FF2B5EF4-FFF2-40B4-BE49-F238E27FC236}">
                <a16:creationId xmlns:a16="http://schemas.microsoft.com/office/drawing/2014/main" id="{90333620-AB4E-43F9-BCCB-DDD0207189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00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96F63A38-26F1-4379-A234-B7EA1FFBE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20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2C172B-E791-4099-83F8-51AED40B0FA6}"/>
              </a:ext>
            </a:extLst>
          </p:cNvPr>
          <p:cNvSpPr>
            <a:spLocks noGrp="1"/>
          </p:cNvSpPr>
          <p:nvPr/>
        </p:nvSpPr>
        <p:spPr>
          <a:xfrm>
            <a:off x="857250" y="6858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D0D9DE-A3C8-4A77-8A63-9909F071C2E1}"/>
              </a:ext>
            </a:extLst>
          </p:cNvPr>
          <p:cNvSpPr>
            <a:spLocks noGrp="1"/>
          </p:cNvSpPr>
          <p:nvPr/>
        </p:nvSpPr>
        <p:spPr>
          <a:xfrm>
            <a:off x="1943100" y="12954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FDEE0F-41CB-4BB6-82C2-5E6FF8B3B4D7}"/>
              </a:ext>
            </a:extLst>
          </p:cNvPr>
          <p:cNvSpPr>
            <a:spLocks noGrp="1"/>
          </p:cNvSpPr>
          <p:nvPr/>
        </p:nvSpPr>
        <p:spPr>
          <a:xfrm>
            <a:off x="3114675" y="476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9F90F6-B1B8-4929-B807-CD50E37E2D29}"/>
              </a:ext>
            </a:extLst>
          </p:cNvPr>
          <p:cNvSpPr>
            <a:spLocks noGrp="1"/>
          </p:cNvSpPr>
          <p:nvPr/>
        </p:nvSpPr>
        <p:spPr>
          <a:xfrm>
            <a:off x="4305300" y="14668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A4B4E2-C5B1-48D7-B400-B86269AD71EA}"/>
              </a:ext>
            </a:extLst>
          </p:cNvPr>
          <p:cNvSpPr>
            <a:spLocks noGrp="1"/>
          </p:cNvSpPr>
          <p:nvPr/>
        </p:nvSpPr>
        <p:spPr>
          <a:xfrm>
            <a:off x="5905500" y="8191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302A60E-7D27-4822-8EE8-176E58E55CD6}"/>
              </a:ext>
            </a:extLst>
          </p:cNvPr>
          <p:cNvSpPr>
            <a:spLocks noGrp="1"/>
          </p:cNvSpPr>
          <p:nvPr/>
        </p:nvSpPr>
        <p:spPr>
          <a:xfrm>
            <a:off x="7686675" y="13144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329953-F0D5-40CE-BF01-C05D6D36E28C}"/>
              </a:ext>
            </a:extLst>
          </p:cNvPr>
          <p:cNvSpPr>
            <a:spLocks noGrp="1"/>
          </p:cNvSpPr>
          <p:nvPr/>
        </p:nvSpPr>
        <p:spPr>
          <a:xfrm>
            <a:off x="8896350" y="5905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FE6CD9-7E70-4B36-AAB6-069BE3FDC441}"/>
              </a:ext>
            </a:extLst>
          </p:cNvPr>
          <p:cNvSpPr>
            <a:spLocks noGrp="1"/>
          </p:cNvSpPr>
          <p:nvPr/>
        </p:nvSpPr>
        <p:spPr>
          <a:xfrm>
            <a:off x="10591800" y="11239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C17C95-1870-4934-A4A5-7E04112CF4B1}"/>
              </a:ext>
            </a:extLst>
          </p:cNvPr>
          <p:cNvSpPr>
            <a:spLocks noGrp="1"/>
          </p:cNvSpPr>
          <p:nvPr/>
        </p:nvSpPr>
        <p:spPr>
          <a:xfrm>
            <a:off x="11544300" y="428625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2BAD62-8E48-4587-886B-E67048DFCE1F}"/>
              </a:ext>
            </a:extLst>
          </p:cNvPr>
          <p:cNvSpPr>
            <a:spLocks noGrp="1"/>
          </p:cNvSpPr>
          <p:nvPr/>
        </p:nvSpPr>
        <p:spPr>
          <a:xfrm>
            <a:off x="1076325" y="5791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06AB76-7B1B-4C3E-AC71-54D0DCB3BEC6}"/>
              </a:ext>
            </a:extLst>
          </p:cNvPr>
          <p:cNvSpPr>
            <a:spLocks noGrp="1"/>
          </p:cNvSpPr>
          <p:nvPr/>
        </p:nvSpPr>
        <p:spPr>
          <a:xfrm>
            <a:off x="2571750" y="49530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CB194A-7501-4806-BFD6-D0F82B31B943}"/>
              </a:ext>
            </a:extLst>
          </p:cNvPr>
          <p:cNvSpPr>
            <a:spLocks noGrp="1"/>
          </p:cNvSpPr>
          <p:nvPr/>
        </p:nvSpPr>
        <p:spPr>
          <a:xfrm>
            <a:off x="4800600" y="60960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21F936-00EF-4BEF-9896-0B7C3F746471}"/>
              </a:ext>
            </a:extLst>
          </p:cNvPr>
          <p:cNvSpPr>
            <a:spLocks noGrp="1"/>
          </p:cNvSpPr>
          <p:nvPr/>
        </p:nvSpPr>
        <p:spPr>
          <a:xfrm>
            <a:off x="6972300" y="5572125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171847-8860-4978-8571-E05C8D741201}"/>
              </a:ext>
            </a:extLst>
          </p:cNvPr>
          <p:cNvSpPr>
            <a:spLocks noGrp="1"/>
          </p:cNvSpPr>
          <p:nvPr/>
        </p:nvSpPr>
        <p:spPr>
          <a:xfrm>
            <a:off x="9334500" y="63055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BE807DC-968B-42C8-B08A-F97B01A303EB}"/>
              </a:ext>
            </a:extLst>
          </p:cNvPr>
          <p:cNvSpPr>
            <a:spLocks noGrp="1"/>
          </p:cNvSpPr>
          <p:nvPr/>
        </p:nvSpPr>
        <p:spPr>
          <a:xfrm>
            <a:off x="11372850" y="535305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5AD61B-2245-49BF-89C4-314CE49E5FB5}"/>
              </a:ext>
            </a:extLst>
          </p:cNvPr>
          <p:cNvSpPr>
            <a:spLocks noGrp="1"/>
          </p:cNvSpPr>
          <p:nvPr/>
        </p:nvSpPr>
        <p:spPr>
          <a:xfrm>
            <a:off x="10953750" y="314325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001472F-9169-4492-B294-7ADEF9749006}"/>
              </a:ext>
            </a:extLst>
          </p:cNvPr>
          <p:cNvSpPr>
            <a:spLocks noGrp="1"/>
          </p:cNvSpPr>
          <p:nvPr/>
        </p:nvSpPr>
        <p:spPr>
          <a:xfrm>
            <a:off x="9791700" y="4000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06282E-1ED7-496A-A926-8361B0255D11}"/>
              </a:ext>
            </a:extLst>
          </p:cNvPr>
          <p:cNvSpPr>
            <a:spLocks noGrp="1"/>
          </p:cNvSpPr>
          <p:nvPr/>
        </p:nvSpPr>
        <p:spPr>
          <a:xfrm>
            <a:off x="7372350" y="31623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C1870E-9388-400A-9281-6D731FF3082C}"/>
              </a:ext>
            </a:extLst>
          </p:cNvPr>
          <p:cNvSpPr>
            <a:spLocks noGrp="1"/>
          </p:cNvSpPr>
          <p:nvPr/>
        </p:nvSpPr>
        <p:spPr>
          <a:xfrm>
            <a:off x="5353050" y="4267200"/>
            <a:ext cx="19050" cy="19050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E0554D-E31E-4EBA-839F-D8614D074986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28575" cy="28575"/>
          </a:xfrm>
          <a:prstGeom prst="ellipse">
            <a:avLst/>
          </a:prstGeom>
          <a:solidFill>
            <a:srgbClr val="D9FF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BC0231-29D6-417D-8703-680F9E80EB25}"/>
              </a:ext>
            </a:extLst>
          </p:cNvPr>
          <p:cNvSpPr>
            <a:spLocks noGrp="1"/>
          </p:cNvSpPr>
          <p:nvPr/>
        </p:nvSpPr>
        <p:spPr>
          <a:xfrm>
            <a:off x="10477500" y="0"/>
            <a:ext cx="1714500" cy="1714500"/>
          </a:xfrm>
          <a:prstGeom prst="ellipse">
            <a:avLst/>
          </a:prstGeom>
          <a:solidFill>
            <a:srgbClr val="143D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9DED5B-89D3-42CD-9D02-FDBAB7EB2977}"/>
              </a:ext>
            </a:extLst>
          </p:cNvPr>
          <p:cNvSpPr>
            <a:spLocks noGrp="1"/>
          </p:cNvSpPr>
          <p:nvPr/>
        </p:nvSpPr>
        <p:spPr>
          <a:xfrm>
            <a:off x="10801350" y="209550"/>
            <a:ext cx="1200150" cy="1200150"/>
          </a:xfrm>
          <a:prstGeom prst="ellipse">
            <a:avLst/>
          </a:prstGeom>
          <a:solidFill>
            <a:srgbClr val="0D2A2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Dikdörtgen 24">
            <a:extLst>
              <a:ext uri="{FF2B5EF4-FFF2-40B4-BE49-F238E27FC236}">
                <a16:creationId xmlns:a16="http://schemas.microsoft.com/office/drawing/2014/main" id="{3A15F5BC-8604-4A4D-99A5-E9ED11355156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2F4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kicker-10-marker">
            <a:extLst>
              <a:ext uri="{FF2B5EF4-FFF2-40B4-BE49-F238E27FC236}">
                <a16:creationId xmlns:a16="http://schemas.microsoft.com/office/drawing/2014/main" id="{08EB8445-81C9-4EC3-BC76-DBE91C4036C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66700" cy="38100"/>
          </a:xfrm>
          <a:prstGeom prst="rect">
            <a:avLst/>
          </a:prstGeom>
          <a:solidFill>
            <a:srgbClr val="52D6B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kicker-10-label">
            <a:extLst>
              <a:ext uri="{FF2B5EF4-FFF2-40B4-BE49-F238E27FC236}">
                <a16:creationId xmlns:a16="http://schemas.microsoft.com/office/drawing/2014/main" id="{106E8A8D-640A-469F-9001-790632DD2396}"/>
              </a:ext>
            </a:extLst>
          </p:cNvPr>
          <p:cNvSpPr>
            <a:spLocks noGrp="1"/>
          </p:cNvSpPr>
          <p:nvPr/>
        </p:nvSpPr>
        <p:spPr>
          <a:xfrm>
            <a:off x="1066800" y="4572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8" name="Dikdörtgen 27">
            <a:extLst>
              <a:ext uri="{FF2B5EF4-FFF2-40B4-BE49-F238E27FC236}">
                <a16:creationId xmlns:a16="http://schemas.microsoft.com/office/drawing/2014/main" id="{1EB9C031-8192-494C-8680-3AC53D19843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2DFB6"/>
                </a:solidFill>
                <a:latin typeface="Aptos Display"/>
                <a:ea typeface="Aptos Display"/>
                <a:cs typeface="Aptos Display"/>
              </a:rPr>
              <a:t>The next most powerful move: making the game clearer, more balanced, and more memorable.</a:t>
            </a:r>
          </a:p>
        </p:txBody>
      </p:sp>
      <p:sp>
        <p:nvSpPr>
          <p:cNvPr id="29" name="Dikdörtgen 28">
            <a:extLst>
              <a:ext uri="{FF2B5EF4-FFF2-40B4-BE49-F238E27FC236}">
                <a16:creationId xmlns:a16="http://schemas.microsoft.com/office/drawing/2014/main" id="{41643442-9D73-4A78-ADCD-F0C95D698DC4}"/>
              </a:ext>
            </a:extLst>
          </p:cNvPr>
          <p:cNvSpPr>
            <a:spLocks noGrp="1"/>
          </p:cNvSpPr>
          <p:nvPr/>
        </p:nvSpPr>
        <p:spPr>
          <a:xfrm>
            <a:off x="1066800" y="1866900"/>
            <a:ext cx="685800" cy="51435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Dikdörtgen 29">
            <a:extLst>
              <a:ext uri="{FF2B5EF4-FFF2-40B4-BE49-F238E27FC236}">
                <a16:creationId xmlns:a16="http://schemas.microsoft.com/office/drawing/2014/main" id="{DF22D393-EFB3-4DD5-8F41-63173140F119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68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1C0B7208-9E6C-4DD2-9234-EB92A47D4DDE}"/>
              </a:ext>
            </a:extLst>
          </p:cNvPr>
          <p:cNvSpPr>
            <a:spLocks noGrp="1"/>
          </p:cNvSpPr>
          <p:nvPr/>
        </p:nvSpPr>
        <p:spPr>
          <a:xfrm>
            <a:off x="1943100" y="1866900"/>
            <a:ext cx="800100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F1CFEE3C-739A-422D-A457-AB6DB2BA2CAD}"/>
              </a:ext>
            </a:extLst>
          </p:cNvPr>
          <p:cNvSpPr>
            <a:spLocks noGrp="1"/>
          </p:cNvSpPr>
          <p:nvPr/>
        </p:nvSpPr>
        <p:spPr>
          <a:xfrm>
            <a:off x="2171700" y="19431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Balance Pass</a:t>
            </a:r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0F756774-6592-4DD7-ABB7-59820812FC32}"/>
              </a:ext>
            </a:extLst>
          </p:cNvPr>
          <p:cNvSpPr>
            <a:spLocks noGrp="1"/>
          </p:cNvSpPr>
          <p:nvPr/>
        </p:nvSpPr>
        <p:spPr>
          <a:xfrm>
            <a:off x="4457700" y="19812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Enemy HP, spawn density, boss timings, and XP economy are adjusted together.</a:t>
            </a:r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772EB848-1A7D-49B7-BD36-62383B2578AB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685800" cy="514350"/>
          </a:xfrm>
          <a:prstGeom prst="rect">
            <a:avLst/>
          </a:prstGeom>
          <a:solidFill>
            <a:srgbClr val="101D1B"/>
          </a:solidFill>
          <a:ln w="11430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8723D63B-430D-4294-9EEE-DC89B1030725}"/>
              </a:ext>
            </a:extLst>
          </p:cNvPr>
          <p:cNvSpPr>
            <a:spLocks noGrp="1"/>
          </p:cNvSpPr>
          <p:nvPr/>
        </p:nvSpPr>
        <p:spPr>
          <a:xfrm>
            <a:off x="1066800" y="2733675"/>
            <a:ext cx="68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0B84A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6" name="Dikdörtgen 35">
            <a:extLst>
              <a:ext uri="{FF2B5EF4-FFF2-40B4-BE49-F238E27FC236}">
                <a16:creationId xmlns:a16="http://schemas.microsoft.com/office/drawing/2014/main" id="{7A6A8915-1244-45B2-9128-965965CD3113}"/>
              </a:ext>
            </a:extLst>
          </p:cNvPr>
          <p:cNvSpPr>
            <a:spLocks noGrp="1"/>
          </p:cNvSpPr>
          <p:nvPr/>
        </p:nvSpPr>
        <p:spPr>
          <a:xfrm>
            <a:off x="1943100" y="2647950"/>
            <a:ext cx="800100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Dikdörtgen 36">
            <a:extLst>
              <a:ext uri="{FF2B5EF4-FFF2-40B4-BE49-F238E27FC236}">
                <a16:creationId xmlns:a16="http://schemas.microsoft.com/office/drawing/2014/main" id="{7E3F6539-FED9-4F5D-A0FA-1EB85AC5804E}"/>
              </a:ext>
            </a:extLst>
          </p:cNvPr>
          <p:cNvSpPr>
            <a:spLocks noGrp="1"/>
          </p:cNvSpPr>
          <p:nvPr/>
        </p:nvSpPr>
        <p:spPr>
          <a:xfrm>
            <a:off x="2171700" y="27241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Audio &amp; Juice</a:t>
            </a:r>
          </a:p>
        </p:txBody>
      </p:sp>
      <p:sp>
        <p:nvSpPr>
          <p:cNvPr id="38" name="Dikdörtgen 37">
            <a:extLst>
              <a:ext uri="{FF2B5EF4-FFF2-40B4-BE49-F238E27FC236}">
                <a16:creationId xmlns:a16="http://schemas.microsoft.com/office/drawing/2014/main" id="{9410CF5E-9C9A-4B69-9D78-0143A3565E2B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An audio layer is added to weapons, explosions, relic reveal, overdrive, and boss warnings.</a:t>
            </a:r>
          </a:p>
        </p:txBody>
      </p:sp>
      <p:sp>
        <p:nvSpPr>
          <p:cNvPr id="39" name="Dikdörtgen 38">
            <a:extLst>
              <a:ext uri="{FF2B5EF4-FFF2-40B4-BE49-F238E27FC236}">
                <a16:creationId xmlns:a16="http://schemas.microsoft.com/office/drawing/2014/main" id="{840320E7-7937-424D-85F7-2B67D5798F2D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685800" cy="514350"/>
          </a:xfrm>
          <a:prstGeom prst="rect">
            <a:avLst/>
          </a:prstGeom>
          <a:solidFill>
            <a:srgbClr val="101D1B"/>
          </a:solidFill>
          <a:ln w="11430">
            <a:solidFill>
              <a:srgbClr val="A58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Dikdörtgen 39">
            <a:extLst>
              <a:ext uri="{FF2B5EF4-FFF2-40B4-BE49-F238E27FC236}">
                <a16:creationId xmlns:a16="http://schemas.microsoft.com/office/drawing/2014/main" id="{88A26C59-A2E8-48F0-B4A7-CE23574547BC}"/>
              </a:ext>
            </a:extLst>
          </p:cNvPr>
          <p:cNvSpPr>
            <a:spLocks noGrp="1"/>
          </p:cNvSpPr>
          <p:nvPr/>
        </p:nvSpPr>
        <p:spPr>
          <a:xfrm>
            <a:off x="1066800" y="3514725"/>
            <a:ext cx="68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A58C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6E895713-4096-4C9A-8397-1F413FC2B048}"/>
              </a:ext>
            </a:extLst>
          </p:cNvPr>
          <p:cNvSpPr>
            <a:spLocks noGrp="1"/>
          </p:cNvSpPr>
          <p:nvPr/>
        </p:nvSpPr>
        <p:spPr>
          <a:xfrm>
            <a:off x="1943100" y="3429000"/>
            <a:ext cx="800100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6378C716-5BBC-4C20-98D6-0425FB54C978}"/>
              </a:ext>
            </a:extLst>
          </p:cNvPr>
          <p:cNvSpPr>
            <a:spLocks noGrp="1"/>
          </p:cNvSpPr>
          <p:nvPr/>
        </p:nvSpPr>
        <p:spPr>
          <a:xfrm>
            <a:off x="2171700" y="35052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Meta Progression</a:t>
            </a:r>
          </a:p>
        </p:txBody>
      </p:sp>
      <p:sp>
        <p:nvSpPr>
          <p:cNvPr id="43" name="Dikdörtgen 42">
            <a:extLst>
              <a:ext uri="{FF2B5EF4-FFF2-40B4-BE49-F238E27FC236}">
                <a16:creationId xmlns:a16="http://schemas.microsoft.com/office/drawing/2014/main" id="{40093FA7-6BB5-4738-8236-D86992C1526B}"/>
              </a:ext>
            </a:extLst>
          </p:cNvPr>
          <p:cNvSpPr>
            <a:spLocks noGrp="1"/>
          </p:cNvSpPr>
          <p:nvPr/>
        </p:nvSpPr>
        <p:spPr>
          <a:xfrm>
            <a:off x="4457700" y="35433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Persistent post-run hangar, ship parts, and unlock objectives are expanded.</a:t>
            </a:r>
          </a:p>
        </p:txBody>
      </p:sp>
      <p:sp>
        <p:nvSpPr>
          <p:cNvPr id="44" name="Dikdörtgen 43">
            <a:extLst>
              <a:ext uri="{FF2B5EF4-FFF2-40B4-BE49-F238E27FC236}">
                <a16:creationId xmlns:a16="http://schemas.microsoft.com/office/drawing/2014/main" id="{C3701F55-7FA6-4DA8-B9D6-A65DF31395C6}"/>
              </a:ext>
            </a:extLst>
          </p:cNvPr>
          <p:cNvSpPr>
            <a:spLocks noGrp="1"/>
          </p:cNvSpPr>
          <p:nvPr/>
        </p:nvSpPr>
        <p:spPr>
          <a:xfrm>
            <a:off x="1066800" y="4210050"/>
            <a:ext cx="685800" cy="514350"/>
          </a:xfrm>
          <a:prstGeom prst="rect">
            <a:avLst/>
          </a:prstGeom>
          <a:solidFill>
            <a:srgbClr val="101D1B"/>
          </a:solidFill>
          <a:ln w="11430">
            <a:solidFill>
              <a:srgbClr val="E857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Dikdörtgen 44">
            <a:extLst>
              <a:ext uri="{FF2B5EF4-FFF2-40B4-BE49-F238E27FC236}">
                <a16:creationId xmlns:a16="http://schemas.microsoft.com/office/drawing/2014/main" id="{3B9A4F90-D6C9-4584-AC1E-CB9498A4761D}"/>
              </a:ext>
            </a:extLst>
          </p:cNvPr>
          <p:cNvSpPr>
            <a:spLocks noGrp="1"/>
          </p:cNvSpPr>
          <p:nvPr/>
        </p:nvSpPr>
        <p:spPr>
          <a:xfrm>
            <a:off x="1066800" y="4295775"/>
            <a:ext cx="68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8573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46" name="Dikdörtgen 45">
            <a:extLst>
              <a:ext uri="{FF2B5EF4-FFF2-40B4-BE49-F238E27FC236}">
                <a16:creationId xmlns:a16="http://schemas.microsoft.com/office/drawing/2014/main" id="{06632D20-50C3-4086-966E-13945846A524}"/>
              </a:ext>
            </a:extLst>
          </p:cNvPr>
          <p:cNvSpPr>
            <a:spLocks noGrp="1"/>
          </p:cNvSpPr>
          <p:nvPr/>
        </p:nvSpPr>
        <p:spPr>
          <a:xfrm>
            <a:off x="1943100" y="4210050"/>
            <a:ext cx="800100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Dikdörtgen 46">
            <a:extLst>
              <a:ext uri="{FF2B5EF4-FFF2-40B4-BE49-F238E27FC236}">
                <a16:creationId xmlns:a16="http://schemas.microsoft.com/office/drawing/2014/main" id="{853E18CE-2404-4552-A492-B9C0914FD5CA}"/>
              </a:ext>
            </a:extLst>
          </p:cNvPr>
          <p:cNvSpPr>
            <a:spLocks noGrp="1"/>
          </p:cNvSpPr>
          <p:nvPr/>
        </p:nvSpPr>
        <p:spPr>
          <a:xfrm>
            <a:off x="2171700" y="4286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Content Depth &amp; Scope</a:t>
            </a:r>
          </a:p>
        </p:txBody>
      </p:sp>
      <p:sp>
        <p:nvSpPr>
          <p:cNvPr id="48" name="Dikdörtgen 47">
            <a:extLst>
              <a:ext uri="{FF2B5EF4-FFF2-40B4-BE49-F238E27FC236}">
                <a16:creationId xmlns:a16="http://schemas.microsoft.com/office/drawing/2014/main" id="{F2BF2069-2E83-49AB-B86D-F06081DA8095}"/>
              </a:ext>
            </a:extLst>
          </p:cNvPr>
          <p:cNvSpPr>
            <a:spLocks noGrp="1"/>
          </p:cNvSpPr>
          <p:nvPr/>
        </p:nvSpPr>
        <p:spPr>
          <a:xfrm>
            <a:off x="4457700" y="432435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New enemy archetypes, relic pool, objective variants, and sector themes are added.</a:t>
            </a:r>
          </a:p>
        </p:txBody>
      </p:sp>
      <p:sp>
        <p:nvSpPr>
          <p:cNvPr id="49" name="Dikdörtgen 48">
            <a:extLst>
              <a:ext uri="{FF2B5EF4-FFF2-40B4-BE49-F238E27FC236}">
                <a16:creationId xmlns:a16="http://schemas.microsoft.com/office/drawing/2014/main" id="{95F90B68-75C7-49E0-B3DB-369ECA27AE31}"/>
              </a:ext>
            </a:extLst>
          </p:cNvPr>
          <p:cNvSpPr>
            <a:spLocks noGrp="1"/>
          </p:cNvSpPr>
          <p:nvPr/>
        </p:nvSpPr>
        <p:spPr>
          <a:xfrm>
            <a:off x="1066800" y="4991100"/>
            <a:ext cx="685800" cy="514350"/>
          </a:xfrm>
          <a:prstGeom prst="rect">
            <a:avLst/>
          </a:prstGeom>
          <a:solidFill>
            <a:srgbClr val="101D1B"/>
          </a:solidFill>
          <a:ln w="11430">
            <a:solidFill>
              <a:srgbClr val="52D6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Dikdörtgen 49">
            <a:extLst>
              <a:ext uri="{FF2B5EF4-FFF2-40B4-BE49-F238E27FC236}">
                <a16:creationId xmlns:a16="http://schemas.microsoft.com/office/drawing/2014/main" id="{70D3F0DC-7552-4AAA-AA6F-E33D68C13DDF}"/>
              </a:ext>
            </a:extLst>
          </p:cNvPr>
          <p:cNvSpPr>
            <a:spLocks noGrp="1"/>
          </p:cNvSpPr>
          <p:nvPr/>
        </p:nvSpPr>
        <p:spPr>
          <a:xfrm>
            <a:off x="1066800" y="5076825"/>
            <a:ext cx="685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2D6BD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51" name="Dikdörtgen 50">
            <a:extLst>
              <a:ext uri="{FF2B5EF4-FFF2-40B4-BE49-F238E27FC236}">
                <a16:creationId xmlns:a16="http://schemas.microsoft.com/office/drawing/2014/main" id="{47A9FC89-1D9A-49D9-9BDD-B1558CC88AA2}"/>
              </a:ext>
            </a:extLst>
          </p:cNvPr>
          <p:cNvSpPr>
            <a:spLocks noGrp="1"/>
          </p:cNvSpPr>
          <p:nvPr/>
        </p:nvSpPr>
        <p:spPr>
          <a:xfrm>
            <a:off x="1943100" y="4991100"/>
            <a:ext cx="8001000" cy="514350"/>
          </a:xfrm>
          <a:prstGeom prst="rect">
            <a:avLst/>
          </a:prstGeom>
          <a:solidFill>
            <a:srgbClr val="101D1B"/>
          </a:solidFill>
          <a:ln w="9525">
            <a:solidFill>
              <a:srgbClr val="2F4B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Dikdörtgen 51">
            <a:extLst>
              <a:ext uri="{FF2B5EF4-FFF2-40B4-BE49-F238E27FC236}">
                <a16:creationId xmlns:a16="http://schemas.microsoft.com/office/drawing/2014/main" id="{36D88713-29BE-40F4-9C9B-73F080FFEA5B}"/>
              </a:ext>
            </a:extLst>
          </p:cNvPr>
          <p:cNvSpPr>
            <a:spLocks noGrp="1"/>
          </p:cNvSpPr>
          <p:nvPr/>
        </p:nvSpPr>
        <p:spPr>
          <a:xfrm>
            <a:off x="2171700" y="50673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Release Package</a:t>
            </a:r>
          </a:p>
        </p:txBody>
      </p:sp>
      <p:sp>
        <p:nvSpPr>
          <p:cNvPr id="53" name="Dikdörtgen 52">
            <a:extLst>
              <a:ext uri="{FF2B5EF4-FFF2-40B4-BE49-F238E27FC236}">
                <a16:creationId xmlns:a16="http://schemas.microsoft.com/office/drawing/2014/main" id="{DE606E25-61D4-41AA-A48E-134A105634FB}"/>
              </a:ext>
            </a:extLst>
          </p:cNvPr>
          <p:cNvSpPr>
            <a:spLocks noGrp="1"/>
          </p:cNvSpPr>
          <p:nvPr/>
        </p:nvSpPr>
        <p:spPr>
          <a:xfrm>
            <a:off x="4457700" y="5105400"/>
            <a:ext cx="495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9B58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C9B58F"/>
                </a:solidFill>
                <a:latin typeface="Aptos"/>
                <a:ea typeface="Aptos"/>
                <a:cs typeface="Aptos"/>
              </a:rPr>
              <a:t>Start screen, settings, performance QA, mobile tests, and shareable build are prepared.</a:t>
            </a:r>
          </a:p>
        </p:txBody>
      </p:sp>
      <p:sp>
        <p:nvSpPr>
          <p:cNvPr id="54" name="Dikdörtgen 53">
            <a:extLst>
              <a:ext uri="{FF2B5EF4-FFF2-40B4-BE49-F238E27FC236}">
                <a16:creationId xmlns:a16="http://schemas.microsoft.com/office/drawing/2014/main" id="{A46048B2-1507-424B-A364-3AD7457BCC97}"/>
              </a:ext>
            </a:extLst>
          </p:cNvPr>
          <p:cNvSpPr>
            <a:spLocks noGrp="1"/>
          </p:cNvSpPr>
          <p:nvPr/>
        </p:nvSpPr>
        <p:spPr>
          <a:xfrm>
            <a:off x="10344150" y="2000250"/>
            <a:ext cx="781050" cy="3371850"/>
          </a:xfrm>
          <a:prstGeom prst="rect">
            <a:avLst/>
          </a:prstGeom>
          <a:solidFill>
            <a:srgbClr val="0F2421"/>
          </a:solidFill>
          <a:ln w="9525">
            <a:solidFill>
              <a:srgbClr val="F0B8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Dikdörtgen 54">
            <a:extLst>
              <a:ext uri="{FF2B5EF4-FFF2-40B4-BE49-F238E27FC236}">
                <a16:creationId xmlns:a16="http://schemas.microsoft.com/office/drawing/2014/main" id="{C0231EC8-CE61-4F37-9A64-742CBE80FE84}"/>
              </a:ext>
            </a:extLst>
          </p:cNvPr>
          <p:cNvSpPr>
            <a:spLocks noGrp="1"/>
          </p:cNvSpPr>
          <p:nvPr/>
        </p:nvSpPr>
        <p:spPr>
          <a:xfrm>
            <a:off x="10496550" y="2247900"/>
            <a:ext cx="51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0B8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0B84A"/>
                </a:solidFill>
                <a:latin typeface="Aptos Mono"/>
                <a:ea typeface="Aptos Mono"/>
                <a:cs typeface="Aptos Mono"/>
              </a:rPr>
              <a:t>PRIORITY</a:t>
            </a:r>
          </a:p>
        </p:txBody>
      </p:sp>
      <p:sp>
        <p:nvSpPr>
          <p:cNvPr id="56" name="Dikdörtgen 55">
            <a:extLst>
              <a:ext uri="{FF2B5EF4-FFF2-40B4-BE49-F238E27FC236}">
                <a16:creationId xmlns:a16="http://schemas.microsoft.com/office/drawing/2014/main" id="{58FAD214-5C9B-43A4-AFD1-5D6CE7A4095D}"/>
              </a:ext>
            </a:extLst>
          </p:cNvPr>
          <p:cNvSpPr>
            <a:spLocks noGrp="1"/>
          </p:cNvSpPr>
          <p:nvPr/>
        </p:nvSpPr>
        <p:spPr>
          <a:xfrm>
            <a:off x="10477500" y="2781300"/>
            <a:ext cx="5143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First balance + audio</a:t>
            </a:r>
          </a:p>
          <a:p>
            <a:pPr algn="ctr">
              <a:defRPr sz="1125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then meta + content</a:t>
            </a:r>
          </a:p>
        </p:txBody>
      </p:sp>
      <p:sp>
        <p:nvSpPr>
          <p:cNvPr id="57" name="Dikdörtgen 56">
            <a:extLst>
              <a:ext uri="{FF2B5EF4-FFF2-40B4-BE49-F238E27FC236}">
                <a16:creationId xmlns:a16="http://schemas.microsoft.com/office/drawing/2014/main" id="{DDD4D88A-781D-4E6E-8959-1E4825590482}"/>
              </a:ext>
            </a:extLst>
          </p:cNvPr>
          <p:cNvSpPr>
            <a:spLocks noGrp="1"/>
          </p:cNvSpPr>
          <p:nvPr/>
        </p:nvSpPr>
        <p:spPr>
          <a:xfrm>
            <a:off x="1809750" y="5772150"/>
            <a:ext cx="8001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2DFB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DFB6"/>
                </a:solidFill>
                <a:latin typeface="Aptos"/>
                <a:ea typeface="Aptos"/>
                <a:cs typeface="Aptos"/>
              </a:rPr>
              <a:t>With this sequence, the game feels better first, and then lasts longer.</a:t>
            </a:r>
          </a:p>
        </p:txBody>
      </p:sp>
      <p:sp>
        <p:nvSpPr>
          <p:cNvPr id="58" name="Dikdörtgen 57">
            <a:extLst>
              <a:ext uri="{FF2B5EF4-FFF2-40B4-BE49-F238E27FC236}">
                <a16:creationId xmlns:a16="http://schemas.microsoft.com/office/drawing/2014/main" id="{6DEA18A3-6153-41B4-86D0-DA205F0A1CBE}"/>
              </a:ext>
            </a:extLst>
          </p:cNvPr>
          <p:cNvSpPr>
            <a:spLocks noGrp="1"/>
          </p:cNvSpPr>
          <p:nvPr/>
        </p:nvSpPr>
        <p:spPr>
          <a:xfrm>
            <a:off x="685800" y="6324600"/>
            <a:ext cx="742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F8F83"/>
                </a:solidFill>
                <a:latin typeface="Aptos Mono"/>
                <a:ea typeface="Aptos Mono"/>
                <a:cs typeface="Aptos Mono"/>
              </a:rPr>
              <a:t>Source: current prototype state and recommended development order</a:t>
            </a:r>
          </a:p>
        </p:txBody>
      </p:sp>
      <p:sp>
        <p:nvSpPr>
          <p:cNvPr id="59" name="Dikdörtgen 58">
            <a:extLst>
              <a:ext uri="{FF2B5EF4-FFF2-40B4-BE49-F238E27FC236}">
                <a16:creationId xmlns:a16="http://schemas.microsoft.com/office/drawing/2014/main" id="{E6EBB6EE-3B48-496B-AD64-A4F84473AEC8}"/>
              </a:ext>
            </a:extLst>
          </p:cNvPr>
          <p:cNvSpPr>
            <a:spLocks noGrp="1"/>
          </p:cNvSpPr>
          <p:nvPr/>
        </p:nvSpPr>
        <p:spPr>
          <a:xfrm>
            <a:off x="11087100" y="6286500"/>
            <a:ext cx="419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9B58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24817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Microsoft Office PowerPoint</Application>
  <DocSecurity>0</DocSecurity>
  <PresentationFormat>Geniş ekran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EMRE KARDAŞ</cp:lastModifiedBy>
  <cp:revision>2</cp:revision>
  <dcterms:created xsi:type="dcterms:W3CDTF">2026-05-29T11:26:41Z</dcterms:created>
  <dcterms:modified xsi:type="dcterms:W3CDTF">2026-05-29T15:12:01Z</dcterms:modified>
</cp:coreProperties>
</file>